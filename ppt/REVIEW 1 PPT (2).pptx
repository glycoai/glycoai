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1"/>
  </p:sldMasterIdLst>
  <p:notesMasterIdLst>
    <p:notesMasterId r:id="rId13"/>
  </p:notesMasterIdLst>
  <p:handoutMasterIdLst>
    <p:handoutMasterId r:id="rId14"/>
  </p:handoutMasterIdLst>
  <p:sldIdLst>
    <p:sldId id="538" r:id="rId2"/>
    <p:sldId id="535" r:id="rId3"/>
    <p:sldId id="569" r:id="rId4"/>
    <p:sldId id="568" r:id="rId5"/>
    <p:sldId id="573" r:id="rId6"/>
    <p:sldId id="571" r:id="rId7"/>
    <p:sldId id="570" r:id="rId8"/>
    <p:sldId id="572" r:id="rId9"/>
    <p:sldId id="545" r:id="rId10"/>
    <p:sldId id="574" r:id="rId11"/>
    <p:sldId id="549" r:id="rId12"/>
  </p:sldIdLst>
  <p:sldSz cx="12192000" cy="6858000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5476DD"/>
    <a:srgbClr val="3A53A0"/>
    <a:srgbClr val="3860D7"/>
    <a:srgbClr val="FF33CC"/>
    <a:srgbClr val="FF0066"/>
    <a:srgbClr val="0000FF"/>
    <a:srgbClr val="33CC33"/>
    <a:srgbClr val="00FFFF"/>
    <a:srgbClr val="66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37" autoAdjust="0"/>
    <p:restoredTop sz="86811" autoAdjust="0"/>
  </p:normalViewPr>
  <p:slideViewPr>
    <p:cSldViewPr>
      <p:cViewPr varScale="1">
        <p:scale>
          <a:sx n="80" d="100"/>
          <a:sy n="80" d="100"/>
        </p:scale>
        <p:origin x="132" y="6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0" d="100"/>
        <a:sy n="90" d="100"/>
      </p:scale>
      <p:origin x="0" y="130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135" y="0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6A7C97D-3554-44E0-8E72-665D45387ACC}" type="datetimeFigureOut">
              <a:rPr lang="en-US"/>
              <a:pPr>
                <a:defRPr/>
              </a:pPr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2" y="8829675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135" y="8829675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1486DC43-659C-4A17-BDC0-5684401D4F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135" y="0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C973BE83-6A1D-4DA3-83D0-ED76C71EFE38}" type="datetimeFigureOut">
              <a:rPr lang="en-US"/>
              <a:pPr>
                <a:defRPr/>
              </a:pPr>
              <a:t>10/4/2026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848" y="4416426"/>
            <a:ext cx="5608320" cy="41830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8829675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135" y="8829675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01C81575-24DE-4F6C-A73E-0331B3B2E4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9660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7309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2B9E9-ADFC-DA0A-79D1-58FB874BF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A8ED24-73F0-4E0D-572F-BBB29428F5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E88CEB-6411-3C5C-D2E1-9CD5D885F0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9515E1-284B-EDB2-6F99-DA03DCC9CD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9668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7309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713C8-F183-1D43-AE77-BF9BD4D2AE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7AF752-0EC0-CF4D-965A-5129A91359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E32540-0688-DC4A-809A-52FB3313D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CA43E-0611-D047-BC7B-31F920B65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6E4123-5713-BC41-BBD0-42ADF35D9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070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DED43-C903-1F44-A779-40DF9AEFD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975D8-34AD-544B-B0E2-83FA77D2FA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D24DD5-B8E0-534E-B68A-EF415575E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096688-5BB1-5E48-BD14-BBC9FA67D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DC407C-3003-DB44-98B5-0DEC6272B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916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5630D-09E2-0742-AED8-D3F732546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5B2CD3-A564-8044-A4EC-7EBA262987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2A64EE-79C1-8B46-BA9C-199117C7B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51AAB2-DA47-AE48-A088-6FC7C1694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48FF9C-19C9-FA46-8C21-742024994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791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CBAF5-C913-024F-8BE6-64C58F970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E6DB7-D3D7-1443-A583-8730715E25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CEB82F-3E99-7441-9B06-6D7C2156AB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26D282-1572-D344-87D1-785DA8576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23D760-065F-6442-AF7E-1A7AAFFCA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BF4C15-EC3A-7E41-A2B3-D2AB7D70E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704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2CC90-B8AE-8A46-A8A5-F7E8DA615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E152C5-AA77-4B47-965C-21A00C1EEC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466F8D-3502-5242-9160-E1CDE38E0A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754302-8F9A-5648-9C5E-6D037F1C75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9FC9CD-8823-F145-9952-EFBA9ACD2E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5EF4D9-655F-4842-A6B8-D44A05012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E68A74-725F-8F40-8F80-E96287703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D868FA-8565-A740-9B9C-B3CD6AB33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854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DFCE3-1C1E-7448-AF7E-5E46BB140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19D5C9-50F6-8546-8D8C-AFACC1BC1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EA0D0C-FCAF-4F4C-AAF5-C9B78C03C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68836A-EEA3-7347-A63C-8E66DF7B3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287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7A43C1-2303-5A41-B234-90D15E2A4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A77971-B281-6149-9884-0E9C45F81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D0F6F3-1061-E842-B540-6BD0D6CB8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732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B970D-13D5-B346-968D-400B0BCCF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9FFE0-37CD-7644-A007-76E5304F12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210BE7-EA92-B44F-9EEC-94E6F6955C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B6D810-D2A1-B549-A5BC-25CCA5CDC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D872D2-2005-3043-A02D-3E2DB9334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F9F01D-1164-4249-AD67-1D51D33C0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386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D3B30-2A71-A043-9BD7-3B8C66BF7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2B08A9-6B45-4340-8859-996D9B9490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B1F4B2-96C1-614B-9110-8D1AEE080D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7DF3EB-6252-5845-AE7D-FB94ECF9F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D65DB7-EFE7-7446-8DEC-69F1FB47A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A0E09F-0F32-5644-881A-A61CD8246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594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6E61B7-8DCD-1544-BC5D-B4592F60C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AB61D9-7FB3-1343-9555-936FC6036D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2A79E-2DF5-4E41-BDCF-90E9D26B7E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1A7037-0853-0447-B5BA-F1548123F733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6D5DC5-E1CB-B84F-BCAB-EB319B3718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712A2C-5C91-4B43-A114-209348A10C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26" name="Picture 2" descr="PESSAT - All India Online Entrance Exam for Admission to PES University">
            <a:extLst>
              <a:ext uri="{FF2B5EF4-FFF2-40B4-BE49-F238E27FC236}">
                <a16:creationId xmlns:a16="http://schemas.microsoft.com/office/drawing/2014/main" id="{C91282D4-EDA2-9EB7-4718-C22D3D176D2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7336" y="365125"/>
            <a:ext cx="1162050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2383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95400" y="1295400"/>
            <a:ext cx="7924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IN" sz="2800" b="1" dirty="0">
                <a:solidFill>
                  <a:srgbClr val="FF0000"/>
                </a:solidFill>
                <a:latin typeface="Trebuchet MS" pitchFamily="34" charset="0"/>
              </a:rPr>
              <a:t>UE24CS320A</a:t>
            </a:r>
            <a:r>
              <a:rPr lang="en-IN" sz="2800" dirty="0"/>
              <a:t> </a:t>
            </a:r>
            <a:r>
              <a:rPr lang="en-IN" sz="2800" b="1" dirty="0">
                <a:solidFill>
                  <a:srgbClr val="FF0000"/>
                </a:solidFill>
                <a:latin typeface="Trebuchet MS" pitchFamily="34" charset="0"/>
              </a:rPr>
              <a:t>– Capstone Project Approval</a:t>
            </a:r>
            <a:endParaRPr lang="en-US" sz="2800" b="1" dirty="0">
              <a:solidFill>
                <a:srgbClr val="FF0000"/>
              </a:solidFill>
              <a:latin typeface="Trebuchet MS" pitchFamily="34" charset="0"/>
            </a:endParaRPr>
          </a:p>
        </p:txBody>
      </p:sp>
      <p:sp>
        <p:nvSpPr>
          <p:cNvPr id="4" name="Google Shape;26;p3"/>
          <p:cNvSpPr txBox="1"/>
          <p:nvPr/>
        </p:nvSpPr>
        <p:spPr>
          <a:xfrm>
            <a:off x="1866900" y="2209800"/>
            <a:ext cx="84582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Title   : </a:t>
            </a:r>
            <a:r>
              <a:rPr lang="en-US" sz="2400" b="1" dirty="0">
                <a:solidFill>
                  <a:srgbClr val="0033CC"/>
                </a:solidFill>
                <a:latin typeface="Trebuchet MS"/>
                <a:sym typeface="Trebuchet MS"/>
              </a:rPr>
              <a:t>A1Cognito</a:t>
            </a:r>
            <a:r>
              <a:rPr lang="en-US" sz="2400" dirty="0">
                <a:solidFill>
                  <a:srgbClr val="0033CC"/>
                </a:solidFill>
                <a:latin typeface="Trebuchet MS"/>
                <a:sym typeface="Trebuchet MS"/>
              </a:rPr>
              <a:t>- Detection of HbA1c-Glycemic            		    Discordance Using Machine Learning 				    Approaches from Routine Clinical and 			    </a:t>
            </a:r>
            <a:r>
              <a:rPr lang="en-US" sz="2400" dirty="0" err="1">
                <a:solidFill>
                  <a:srgbClr val="0033CC"/>
                </a:solidFill>
                <a:latin typeface="Trebuchet MS"/>
                <a:sym typeface="Trebuchet MS"/>
              </a:rPr>
              <a:t>Haematological</a:t>
            </a:r>
            <a:r>
              <a:rPr lang="en-US" sz="2400" dirty="0">
                <a:solidFill>
                  <a:srgbClr val="0033CC"/>
                </a:solidFill>
                <a:latin typeface="Trebuchet MS"/>
                <a:sym typeface="Trebuchet MS"/>
              </a:rPr>
              <a:t> Parameters.</a:t>
            </a: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ID       : 20</a:t>
            </a:r>
            <a:endParaRPr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Guide : </a:t>
            </a:r>
            <a:r>
              <a:rPr lang="en-IN" sz="2400" dirty="0">
                <a:solidFill>
                  <a:srgbClr val="0033CC"/>
                </a:solidFill>
              </a:rPr>
              <a:t>Dr Pooja Agarwal</a:t>
            </a:r>
            <a:r>
              <a:rPr lang="en-US" sz="32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  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32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      </a:t>
            </a:r>
            <a:endParaRPr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Team  : SHIVANAND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		    SHREYASH M YADWAD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		    SHIVANGOUDA I PATIL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	              SAMARTHA M S</a:t>
            </a:r>
            <a:b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		    </a:t>
            </a:r>
            <a:endParaRPr sz="2000" dirty="0">
              <a:solidFill>
                <a:srgbClr val="0033CC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1066800" y="1752600"/>
            <a:ext cx="8534400" cy="4724400"/>
          </a:xfrm>
          <a:prstGeom prst="rect">
            <a:avLst/>
          </a:prstGeom>
        </p:spPr>
        <p:txBody>
          <a:bodyPr/>
          <a:lstStyle/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endParaRPr lang="en-IN" sz="2000" kern="0" dirty="0">
              <a:solidFill>
                <a:srgbClr val="0000FF"/>
              </a:solidFill>
              <a:latin typeface="Trebuchet MS" pitchFamily="34" charset="0"/>
            </a:endParaRPr>
          </a:p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endParaRPr lang="en-IN" sz="2000" kern="0" dirty="0">
              <a:solidFill>
                <a:srgbClr val="0000FF"/>
              </a:solidFill>
              <a:latin typeface="Trebuchet MS" pitchFamily="34" charset="0"/>
            </a:endParaRP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IN" sz="2400" dirty="0">
                <a:solidFill>
                  <a:srgbClr val="0033CC"/>
                </a:solidFill>
                <a:latin typeface="Trebuchet MS"/>
              </a:rPr>
              <a:t>Problem Statement </a:t>
            </a: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IN" sz="2400" dirty="0">
                <a:solidFill>
                  <a:srgbClr val="0033CC"/>
                </a:solidFill>
                <a:latin typeface="Trebuchet MS"/>
              </a:rPr>
              <a:t>Scope and Feasibility study </a:t>
            </a: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IN" sz="2400" dirty="0">
                <a:solidFill>
                  <a:srgbClr val="0033CC"/>
                </a:solidFill>
                <a:latin typeface="Trebuchet MS"/>
              </a:rPr>
              <a:t>Applications/Use cases </a:t>
            </a: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IN" sz="2400" dirty="0">
                <a:solidFill>
                  <a:srgbClr val="0033CC"/>
                </a:solidFill>
                <a:latin typeface="Trebuchet MS"/>
              </a:rPr>
              <a:t>Background work</a:t>
            </a: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IN" sz="2400" dirty="0">
                <a:solidFill>
                  <a:srgbClr val="0033CC"/>
                </a:solidFill>
                <a:latin typeface="Trebuchet MS"/>
              </a:rPr>
              <a:t>Expected Deliverables</a:t>
            </a: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IN" sz="2400" dirty="0">
                <a:solidFill>
                  <a:srgbClr val="0033CC"/>
                </a:solidFill>
                <a:latin typeface="Trebuchet MS"/>
              </a:rPr>
              <a:t>Capstone (Phase-I Phase-II, Phase-III) Project Timeline </a:t>
            </a: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IN" sz="2400" dirty="0">
                <a:solidFill>
                  <a:srgbClr val="0033CC"/>
                </a:solidFill>
                <a:latin typeface="Trebuchet MS"/>
              </a:rPr>
              <a:t>Any other information</a:t>
            </a:r>
            <a:endParaRPr lang="en-US" sz="2400" dirty="0">
              <a:solidFill>
                <a:srgbClr val="0033CC"/>
              </a:solidFill>
              <a:latin typeface="Trebuchet MS"/>
              <a:sym typeface="Trebuchet MS"/>
            </a:endParaRPr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4191000" y="1143002"/>
            <a:ext cx="6477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Outline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45E0A62-506B-3F8F-9EA9-59ABC54613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1339898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18" name="Text Box 34">
            <a:extLst>
              <a:ext uri="{FF2B5EF4-FFF2-40B4-BE49-F238E27FC236}">
                <a16:creationId xmlns:a16="http://schemas.microsoft.com/office/drawing/2014/main" id="{7F2D9AA7-0998-7401-2166-A51CB0EDBE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896490"/>
            <a:ext cx="6477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IN" sz="2400" dirty="0">
                <a:solidFill>
                  <a:srgbClr val="FF0000"/>
                </a:solidFill>
                <a:latin typeface="Trebuchet MS" pitchFamily="34" charset="0"/>
              </a:rPr>
              <a:t>Problem Statement</a:t>
            </a:r>
            <a:endParaRPr lang="en-US" sz="2400" dirty="0">
              <a:solidFill>
                <a:srgbClr val="FF0000"/>
              </a:solidFill>
              <a:latin typeface="Trebuchet MS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00C5141-4F6E-5794-916A-DE8F7B940E77}"/>
              </a:ext>
            </a:extLst>
          </p:cNvPr>
          <p:cNvSpPr/>
          <p:nvPr/>
        </p:nvSpPr>
        <p:spPr>
          <a:xfrm>
            <a:off x="762000" y="1627000"/>
            <a:ext cx="10600000" cy="1330000"/>
          </a:xfrm>
          <a:prstGeom prst="rect">
            <a:avLst/>
          </a:prstGeom>
          <a:solidFill>
            <a:srgbClr val="E8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0000" tIns="80000" rIns="110000" bIns="60000" rtlCol="0" anchor="t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dirty="0">
                <a:solidFill>
                  <a:srgbClr val="0033CC"/>
                </a:solidFill>
                <a:latin typeface="Trebuchet MS"/>
              </a:rPr>
              <a:t>Problem statement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 dirty="0">
                <a:solidFill>
                  <a:srgbClr val="0033CC"/>
                </a:solidFill>
                <a:latin typeface="Trebuchet MS"/>
              </a:rPr>
              <a:t>Given routine laboratory data that already accompany an HbA1c test (CBC indices such as </a:t>
            </a:r>
            <a:r>
              <a:rPr sz="1600" b="0" dirty="0" err="1">
                <a:solidFill>
                  <a:srgbClr val="0033CC"/>
                </a:solidFill>
                <a:latin typeface="Trebuchet MS"/>
              </a:rPr>
              <a:t>haemoglobin</a:t>
            </a:r>
            <a:r>
              <a:rPr sz="1600" b="0" dirty="0">
                <a:solidFill>
                  <a:srgbClr val="0033CC"/>
                </a:solidFill>
                <a:latin typeface="Trebuchet MS"/>
              </a:rPr>
              <a:t>, MCV and RDW, plus age, BMI and glucose), develop an explainable machine-learning screening model that estimates the probability that a reported HbA1c is discordant with the patient’s actual </a:t>
            </a:r>
            <a:r>
              <a:rPr sz="1600" b="0" dirty="0" err="1">
                <a:solidFill>
                  <a:srgbClr val="0033CC"/>
                </a:solidFill>
                <a:latin typeface="Trebuchet MS"/>
              </a:rPr>
              <a:t>glycaemic</a:t>
            </a:r>
            <a:r>
              <a:rPr sz="1600" b="0" dirty="0">
                <a:solidFill>
                  <a:srgbClr val="0033CC"/>
                </a:solidFill>
                <a:latin typeface="Trebuchet MS"/>
              </a:rPr>
              <a:t> status and shows which factors drive that flag – as clinician decision support, not a corrected HbA1c value or a diagnosis.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66D5706-4129-6CE8-73A6-0ABB0A3F45B3}"/>
              </a:ext>
            </a:extLst>
          </p:cNvPr>
          <p:cNvSpPr txBox="1"/>
          <p:nvPr/>
        </p:nvSpPr>
        <p:spPr>
          <a:xfrm>
            <a:off x="762000" y="3097000"/>
            <a:ext cx="10600000" cy="230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1" dirty="0">
                <a:solidFill>
                  <a:srgbClr val="0033CC"/>
                </a:solidFill>
                <a:latin typeface="Trebuchet MS"/>
              </a:rPr>
              <a:t>Why this is a problem</a:t>
            </a:r>
          </a:p>
          <a:p>
            <a:pPr marL="228600" indent="-228600"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600" b="1" dirty="0">
                <a:solidFill>
                  <a:srgbClr val="0033CC"/>
                </a:solidFill>
                <a:latin typeface="Trebuchet MS"/>
              </a:rPr>
              <a:t>HbA1c is an indirect measure. </a:t>
            </a:r>
            <a:r>
              <a:rPr sz="1600" b="0" dirty="0">
                <a:solidFill>
                  <a:srgbClr val="0033CC"/>
                </a:solidFill>
                <a:latin typeface="Trebuchet MS"/>
              </a:rPr>
              <a:t>It reflects glucose bound to </a:t>
            </a:r>
            <a:r>
              <a:rPr sz="1600" b="0" dirty="0" err="1">
                <a:solidFill>
                  <a:srgbClr val="0033CC"/>
                </a:solidFill>
                <a:latin typeface="Trebuchet MS"/>
              </a:rPr>
              <a:t>haemoglobin</a:t>
            </a:r>
            <a:r>
              <a:rPr sz="1600" b="0" dirty="0">
                <a:solidFill>
                  <a:srgbClr val="0033CC"/>
                </a:solidFill>
                <a:latin typeface="Trebuchet MS"/>
              </a:rPr>
              <a:t> over the red-cell lifespan (~8–12 weeks), so changes in red-cell turnover or in the assay can shift the result without any change in glycaemia – e.g. iron deficiency, chronic kidney disease, </a:t>
            </a:r>
            <a:r>
              <a:rPr sz="1600" b="0" dirty="0" err="1">
                <a:solidFill>
                  <a:srgbClr val="0033CC"/>
                </a:solidFill>
                <a:latin typeface="Trebuchet MS"/>
              </a:rPr>
              <a:t>haemoglobin</a:t>
            </a:r>
            <a:r>
              <a:rPr sz="1600" b="0" dirty="0">
                <a:solidFill>
                  <a:srgbClr val="0033CC"/>
                </a:solidFill>
                <a:latin typeface="Trebuchet MS"/>
              </a:rPr>
              <a:t> variants.</a:t>
            </a:r>
          </a:p>
          <a:p>
            <a:pPr marL="228600" indent="-228600"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600" b="1" dirty="0">
                <a:solidFill>
                  <a:srgbClr val="0033CC"/>
                </a:solidFill>
                <a:latin typeface="Trebuchet MS"/>
              </a:rPr>
              <a:t>Disagreement is common. </a:t>
            </a:r>
            <a:r>
              <a:rPr sz="1600" b="0" dirty="0">
                <a:solidFill>
                  <a:srgbClr val="0033CC"/>
                </a:solidFill>
                <a:latin typeface="Trebuchet MS"/>
              </a:rPr>
              <a:t>In a University of Washington review of 641 CGM-user visits, only 11% had a lab-vs-CGM-estimated HbA1c gap below 0.1%, while 50% differed by 0.5% or more.</a:t>
            </a:r>
          </a:p>
          <a:p>
            <a:pPr marL="228600" indent="-228600" algn="l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sz="1600" b="1" dirty="0">
                <a:solidFill>
                  <a:srgbClr val="0033CC"/>
                </a:solidFill>
                <a:latin typeface="Trebuchet MS"/>
              </a:rPr>
              <a:t>It goes unnoticed and has consequences. </a:t>
            </a:r>
            <a:r>
              <a:rPr sz="1600" b="0" dirty="0" err="1">
                <a:solidFill>
                  <a:srgbClr val="0033CC"/>
                </a:solidFill>
                <a:latin typeface="Trebuchet MS"/>
              </a:rPr>
              <a:t>Unrecognised</a:t>
            </a:r>
            <a:r>
              <a:rPr sz="1600" b="0" dirty="0">
                <a:solidFill>
                  <a:srgbClr val="0033CC"/>
                </a:solidFill>
                <a:latin typeface="Trebuchet MS"/>
              </a:rPr>
              <a:t> discordance can lead to inappropriate treatment escalation, increased </a:t>
            </a:r>
            <a:r>
              <a:rPr sz="1600" b="0" dirty="0" err="1">
                <a:solidFill>
                  <a:srgbClr val="0033CC"/>
                </a:solidFill>
                <a:latin typeface="Trebuchet MS"/>
              </a:rPr>
              <a:t>hypoglycaemia</a:t>
            </a:r>
            <a:r>
              <a:rPr sz="1600" b="0" dirty="0">
                <a:solidFill>
                  <a:srgbClr val="0033CC"/>
                </a:solidFill>
                <a:latin typeface="Trebuchet MS"/>
              </a:rPr>
              <a:t> risk and patient distress, yet spotting it depends on clinician vigilance.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805F96C-FDEF-3F56-7D39-8791DD076940}"/>
              </a:ext>
            </a:extLst>
          </p:cNvPr>
          <p:cNvSpPr txBox="1"/>
          <p:nvPr/>
        </p:nvSpPr>
        <p:spPr>
          <a:xfrm>
            <a:off x="762000" y="6177000"/>
            <a:ext cx="10600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dirty="0">
                <a:solidFill>
                  <a:srgbClr val="595959"/>
                </a:solidFill>
                <a:latin typeface="Trebuchet MS"/>
              </a:rPr>
              <a:t>Sources: NGSP factors page; Southern Med J 2026 (“When HbA1c Lies”); Perlman et al., Diabetes Technol Ther 2021;23(4):253–258.</a:t>
            </a:r>
          </a:p>
        </p:txBody>
      </p:sp>
    </p:spTree>
    <p:extLst>
      <p:ext uri="{BB962C8B-B14F-4D97-AF65-F5344CB8AC3E}">
        <p14:creationId xmlns:p14="http://schemas.microsoft.com/office/powerpoint/2010/main" val="3811030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61914" y="1407118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1295400" y="1747730"/>
            <a:ext cx="8077200" cy="4211931"/>
          </a:xfrm>
          <a:prstGeom prst="rect">
            <a:avLst/>
          </a:prstGeom>
        </p:spPr>
        <p:txBody>
          <a:bodyPr/>
          <a:lstStyle/>
          <a:p>
            <a:pPr marL="342891" algn="just" eaLnBrk="0" hangingPunct="0">
              <a:spcBef>
                <a:spcPts val="0"/>
              </a:spcBef>
              <a:spcAft>
                <a:spcPts val="0"/>
              </a:spcAft>
              <a:defRPr/>
            </a:pPr>
            <a:endParaRPr lang="en-IN" sz="2400" dirty="0">
              <a:solidFill>
                <a:srgbClr val="0033CC"/>
              </a:solidFill>
              <a:latin typeface="Trebuchet MS"/>
            </a:endParaRPr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2713714" y="921825"/>
            <a:ext cx="7848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IN" sz="2400" dirty="0">
                <a:solidFill>
                  <a:srgbClr val="FF0000"/>
                </a:solidFill>
                <a:latin typeface="Trebuchet MS" pitchFamily="34" charset="0"/>
              </a:rPr>
              <a:t>Scope and Feasibility study</a:t>
            </a:r>
            <a:endParaRPr lang="en-US" sz="2400" dirty="0">
              <a:solidFill>
                <a:srgbClr val="FF0000"/>
              </a:solidFill>
              <a:latin typeface="Trebuchet MS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ECB469-6B19-4CE6-EFA5-CEE2DCCC3829}"/>
              </a:ext>
            </a:extLst>
          </p:cNvPr>
          <p:cNvSpPr txBox="1"/>
          <p:nvPr/>
        </p:nvSpPr>
        <p:spPr>
          <a:xfrm>
            <a:off x="512859" y="1579752"/>
            <a:ext cx="109728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b="1" dirty="0">
                <a:solidFill>
                  <a:srgbClr val="0033CC"/>
                </a:solidFill>
              </a:rPr>
              <a:t>Scope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0033CC"/>
                </a:solidFill>
              </a:rPr>
              <a:t>Test routine clinical + CBC variables for discordant HbA1c (Hb, RDW, MCV, ferritin, glucose, age, BMI)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0033CC"/>
                </a:solidFill>
              </a:rPr>
              <a:t>Develop a Discordance Risk Score with SHAP-based explanation and HGI-based labelling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0033CC"/>
                </a:solidFill>
              </a:rPr>
              <a:t>Decision-support, not diagnostic — clinician retains final call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33CC"/>
                </a:solidFill>
              </a:rPr>
              <a:t>Focus: anemia, nutritional and demographic variables.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025C67-70BE-34BC-C4A2-B9F13776AFE1}"/>
              </a:ext>
            </a:extLst>
          </p:cNvPr>
          <p:cNvSpPr txBox="1"/>
          <p:nvPr/>
        </p:nvSpPr>
        <p:spPr>
          <a:xfrm>
            <a:off x="528099" y="6566424"/>
            <a:ext cx="6781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Sources: same as above, plus NGSP HbA1c interference documentation (ngsp.org)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A1144F-A002-F002-07D5-5A80B5844E04}"/>
              </a:ext>
            </a:extLst>
          </p:cNvPr>
          <p:cNvSpPr txBox="1"/>
          <p:nvPr/>
        </p:nvSpPr>
        <p:spPr>
          <a:xfrm>
            <a:off x="528099" y="2895600"/>
            <a:ext cx="101346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033CC"/>
                </a:solidFill>
              </a:rPr>
              <a:t>Feasibility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0033CC"/>
                </a:solidFill>
              </a:rPr>
              <a:t>Market feasibility: a USD 2.41B+ and growing HbA1c testing market, 589M-patient global population, and documented 25–57% anaemia co-prevalence in the target population (India) — this isn't a niche problem, it's a large, quantifiable, underserved gap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33CC"/>
                </a:solidFill>
              </a:rPr>
              <a:t>Open source NHANES data → no paid database or delayed ethics approval.</a:t>
            </a:r>
            <a:endParaRPr lang="en-IN" sz="1600" dirty="0">
              <a:solidFill>
                <a:srgbClr val="0033CC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33CC"/>
                </a:solidFill>
              </a:rPr>
              <a:t>8,385 patients × 22 variables already collected and preprocessed.</a:t>
            </a:r>
            <a:endParaRPr lang="en-IN" sz="1600" dirty="0">
              <a:solidFill>
                <a:srgbClr val="0033CC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33CC"/>
                </a:solidFill>
              </a:rPr>
              <a:t>Uses proven approach: </a:t>
            </a:r>
            <a:r>
              <a:rPr lang="en-US" sz="1600" dirty="0" err="1">
                <a:solidFill>
                  <a:srgbClr val="0033CC"/>
                </a:solidFill>
              </a:rPr>
              <a:t>XGBoost</a:t>
            </a:r>
            <a:r>
              <a:rPr lang="en-US" sz="1600" dirty="0">
                <a:solidFill>
                  <a:srgbClr val="0033CC"/>
                </a:solidFill>
              </a:rPr>
              <a:t> + SHAP + HGI-based classification(these ML methods are established).</a:t>
            </a:r>
            <a:endParaRPr lang="en-IN" sz="1600" dirty="0">
              <a:solidFill>
                <a:srgbClr val="0033CC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33CC"/>
                </a:solidFill>
              </a:rPr>
              <a:t>Limitations are clearly scoped and bounded.</a:t>
            </a:r>
            <a:endParaRPr lang="en-IN" sz="1600" dirty="0">
              <a:solidFill>
                <a:srgbClr val="0033CC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33CC"/>
                </a:solidFill>
              </a:rPr>
              <a:t>The project is feasible due to available data, methodology, pipeline and project scope; modelling and validation are the next steps.</a:t>
            </a:r>
            <a:endParaRPr lang="en-IN" sz="1600" dirty="0">
              <a:solidFill>
                <a:srgbClr val="0033CC"/>
              </a:solidFill>
              <a:effectLst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A7E0E3-D9DD-3991-49EA-CFDB4A0CBD22}"/>
              </a:ext>
            </a:extLst>
          </p:cNvPr>
          <p:cNvSpPr txBox="1"/>
          <p:nvPr/>
        </p:nvSpPr>
        <p:spPr>
          <a:xfrm>
            <a:off x="533400" y="5421052"/>
            <a:ext cx="1002891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0033CC"/>
                </a:solidFill>
              </a:rPr>
              <a:t>Possible shortcomings / challenges</a:t>
            </a:r>
            <a:endParaRPr lang="en-IN" sz="1600" dirty="0">
              <a:solidFill>
                <a:srgbClr val="0033CC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0033CC"/>
                </a:solidFill>
              </a:rPr>
              <a:t>Not detectable</a:t>
            </a:r>
            <a:r>
              <a:rPr lang="en-IN" sz="1600" b="1" dirty="0">
                <a:solidFill>
                  <a:srgbClr val="0033CC"/>
                </a:solidFill>
              </a:rPr>
              <a:t>: </a:t>
            </a:r>
            <a:r>
              <a:rPr lang="en-IN" sz="1600" dirty="0">
                <a:solidFill>
                  <a:srgbClr val="0033CC"/>
                </a:solidFill>
              </a:rPr>
              <a:t>haemoglobin variants, drug effects, assay interference (absent from public data)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0033CC"/>
                </a:solidFill>
              </a:rPr>
              <a:t>Data shrinks</a:t>
            </a:r>
            <a:r>
              <a:rPr lang="en-IN" sz="1600" b="1" dirty="0">
                <a:solidFill>
                  <a:srgbClr val="0033CC"/>
                </a:solidFill>
              </a:rPr>
              <a:t>: </a:t>
            </a:r>
            <a:r>
              <a:rPr lang="en-IN" sz="1600" dirty="0">
                <a:solidFill>
                  <a:srgbClr val="0033CC"/>
                </a:solidFill>
              </a:rPr>
              <a:t>16,936 → 8,385 rows after requiring complete core fields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0033CC"/>
                </a:solidFill>
              </a:rPr>
              <a:t>US data: NHANES-trained; generalisability to India not yet validated</a:t>
            </a:r>
            <a:endParaRPr lang="en-IN" sz="1600" dirty="0">
              <a:solidFill>
                <a:srgbClr val="0033CC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2053692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BACE1-7374-BB65-640F-D6DB2AF30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4399CDD-B094-D929-FE42-B3E911C7E3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1323797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8" name="Text Box 34">
            <a:extLst>
              <a:ext uri="{FF2B5EF4-FFF2-40B4-BE49-F238E27FC236}">
                <a16:creationId xmlns:a16="http://schemas.microsoft.com/office/drawing/2014/main" id="{9A2D1A3D-F13F-CF73-892F-BC8FE901B3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880388"/>
            <a:ext cx="7848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IN" sz="2400" dirty="0">
                <a:solidFill>
                  <a:srgbClr val="FF0000"/>
                </a:solidFill>
                <a:latin typeface="Trebuchet MS" pitchFamily="34" charset="0"/>
              </a:rPr>
              <a:t>Background</a:t>
            </a:r>
            <a:endParaRPr lang="en-US" sz="2400" dirty="0">
              <a:solidFill>
                <a:srgbClr val="FF0000"/>
              </a:solidFill>
              <a:latin typeface="Trebuchet MS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56F0C5-834A-0625-6CB7-05798FF319E0}"/>
              </a:ext>
            </a:extLst>
          </p:cNvPr>
          <p:cNvSpPr/>
          <p:nvPr/>
        </p:nvSpPr>
        <p:spPr>
          <a:xfrm>
            <a:off x="762000" y="1693655"/>
            <a:ext cx="3450000" cy="2100000"/>
          </a:xfrm>
          <a:prstGeom prst="rect">
            <a:avLst/>
          </a:prstGeom>
          <a:solidFill>
            <a:srgbClr val="E8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0000" tIns="70000" rIns="100000" bIns="40000" rtlCol="0" anchor="t"/>
          <a:lstStyle/>
          <a:p>
            <a:pPr algn="l">
              <a:spcAft>
                <a:spcPts val="400"/>
              </a:spcAft>
            </a:pPr>
            <a:r>
              <a:rPr sz="1600" b="1" dirty="0">
                <a:solidFill>
                  <a:srgbClr val="0033CC"/>
                </a:solidFill>
                <a:latin typeface="Trebuchet MS"/>
              </a:rPr>
              <a:t>1. Target market</a:t>
            </a:r>
          </a:p>
          <a:p>
            <a:pPr marL="171450" indent="-171450" algn="l">
              <a:spcAft>
                <a:spcPts val="300"/>
              </a:spcAft>
              <a:buFont typeface="Arial"/>
              <a:buChar char="•"/>
            </a:pPr>
            <a:r>
              <a:rPr sz="1200" b="1" dirty="0">
                <a:solidFill>
                  <a:srgbClr val="0033CC"/>
                </a:solidFill>
                <a:latin typeface="Trebuchet MS"/>
              </a:rPr>
              <a:t>Who: </a:t>
            </a:r>
            <a:r>
              <a:rPr sz="1200" b="0" dirty="0">
                <a:solidFill>
                  <a:srgbClr val="0033CC"/>
                </a:solidFill>
                <a:latin typeface="Trebuchet MS"/>
              </a:rPr>
              <a:t>clinicians, hospitals and diagnostic labs that order HbA1c to diagnose and monitor diabetes.</a:t>
            </a:r>
          </a:p>
          <a:p>
            <a:pPr marL="171450" indent="-171450" algn="l">
              <a:spcAft>
                <a:spcPts val="300"/>
              </a:spcAft>
              <a:buFont typeface="Arial"/>
              <a:buChar char="•"/>
            </a:pPr>
            <a:r>
              <a:rPr sz="1200" b="1" dirty="0">
                <a:solidFill>
                  <a:srgbClr val="0033CC"/>
                </a:solidFill>
                <a:latin typeface="Trebuchet MS"/>
              </a:rPr>
              <a:t>Where: </a:t>
            </a:r>
            <a:r>
              <a:rPr sz="1200" b="0" dirty="0">
                <a:solidFill>
                  <a:srgbClr val="0033CC"/>
                </a:solidFill>
                <a:latin typeface="Trebuchet MS"/>
              </a:rPr>
              <a:t>settings without CGM and populations with high </a:t>
            </a:r>
            <a:r>
              <a:rPr sz="1200" b="0" dirty="0" err="1">
                <a:solidFill>
                  <a:srgbClr val="0033CC"/>
                </a:solidFill>
                <a:latin typeface="Trebuchet MS"/>
              </a:rPr>
              <a:t>anaemia</a:t>
            </a:r>
            <a:r>
              <a:rPr sz="1200" b="0" dirty="0">
                <a:solidFill>
                  <a:srgbClr val="0033CC"/>
                </a:solidFill>
                <a:latin typeface="Trebuchet MS"/>
              </a:rPr>
              <a:t> / nutritional deficiency (e.g. India).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28426CD-A7AA-62CB-2448-CE4BB8B61404}"/>
              </a:ext>
            </a:extLst>
          </p:cNvPr>
          <p:cNvSpPr/>
          <p:nvPr/>
        </p:nvSpPr>
        <p:spPr>
          <a:xfrm>
            <a:off x="4382000" y="1700000"/>
            <a:ext cx="3450000" cy="2100000"/>
          </a:xfrm>
          <a:prstGeom prst="rect">
            <a:avLst/>
          </a:prstGeom>
          <a:solidFill>
            <a:srgbClr val="E8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0000" tIns="70000" rIns="100000" bIns="40000" rtlCol="0" anchor="t"/>
          <a:lstStyle/>
          <a:p>
            <a:pPr algn="l">
              <a:spcAft>
                <a:spcPts val="400"/>
              </a:spcAft>
            </a:pPr>
            <a:r>
              <a:rPr sz="1600" b="1" dirty="0">
                <a:solidFill>
                  <a:srgbClr val="0033CC"/>
                </a:solidFill>
                <a:latin typeface="Trebuchet MS"/>
              </a:rPr>
              <a:t>2. How big is it?</a:t>
            </a:r>
          </a:p>
          <a:p>
            <a:pPr marL="171450" indent="-171450" algn="l">
              <a:spcAft>
                <a:spcPts val="200"/>
              </a:spcAft>
              <a:buFont typeface="Arial"/>
              <a:buChar char="•"/>
            </a:pPr>
            <a:r>
              <a:rPr sz="1200" b="1" dirty="0">
                <a:solidFill>
                  <a:srgbClr val="0033CC"/>
                </a:solidFill>
                <a:latin typeface="Trebuchet MS"/>
              </a:rPr>
              <a:t>589M </a:t>
            </a:r>
            <a:r>
              <a:rPr sz="1200" b="0" dirty="0">
                <a:solidFill>
                  <a:srgbClr val="0033CC"/>
                </a:solidFill>
                <a:latin typeface="Trebuchet MS"/>
              </a:rPr>
              <a:t>adults with diabetes (2024) → 853M by 2050; &gt;250M undiagnosed (IDF 2025).</a:t>
            </a:r>
          </a:p>
          <a:p>
            <a:pPr marL="171450" indent="-171450" algn="l">
              <a:spcAft>
                <a:spcPts val="200"/>
              </a:spcAft>
              <a:buFont typeface="Arial"/>
              <a:buChar char="•"/>
            </a:pPr>
            <a:r>
              <a:rPr sz="1200" b="1" dirty="0">
                <a:solidFill>
                  <a:srgbClr val="0033CC"/>
                </a:solidFill>
                <a:latin typeface="Trebuchet MS"/>
              </a:rPr>
              <a:t>India: </a:t>
            </a:r>
            <a:r>
              <a:rPr sz="1200" b="0" dirty="0">
                <a:solidFill>
                  <a:srgbClr val="0033CC"/>
                </a:solidFill>
                <a:latin typeface="Trebuchet MS"/>
              </a:rPr>
              <a:t>89.8M adults, 43% undiagnosed (IDF 2025).</a:t>
            </a:r>
          </a:p>
          <a:p>
            <a:pPr marL="171450" indent="-171450" algn="l">
              <a:spcAft>
                <a:spcPts val="200"/>
              </a:spcAft>
              <a:buFont typeface="Arial"/>
              <a:buChar char="•"/>
            </a:pPr>
            <a:r>
              <a:rPr sz="1200" b="1" dirty="0" err="1">
                <a:solidFill>
                  <a:srgbClr val="0033CC"/>
                </a:solidFill>
                <a:latin typeface="Trebuchet MS"/>
              </a:rPr>
              <a:t>Anaemia</a:t>
            </a:r>
            <a:r>
              <a:rPr sz="1200" b="1" dirty="0">
                <a:solidFill>
                  <a:srgbClr val="0033CC"/>
                </a:solidFill>
                <a:latin typeface="Trebuchet MS"/>
              </a:rPr>
              <a:t>: </a:t>
            </a:r>
            <a:r>
              <a:rPr sz="1200" b="0" dirty="0">
                <a:solidFill>
                  <a:srgbClr val="0033CC"/>
                </a:solidFill>
                <a:latin typeface="Trebuchet MS"/>
              </a:rPr>
              <a:t>30.7% of women 15–49 worldwide (WHO 2023); India 57% of women, 25% of men (NFHS-5).</a:t>
            </a:r>
          </a:p>
          <a:p>
            <a:pPr marL="171450" indent="-171450" algn="l">
              <a:spcAft>
                <a:spcPts val="0"/>
              </a:spcAft>
              <a:buFont typeface="Arial"/>
              <a:buChar char="•"/>
            </a:pPr>
            <a:r>
              <a:rPr sz="1200" b="1" dirty="0">
                <a:solidFill>
                  <a:srgbClr val="0033CC"/>
                </a:solidFill>
                <a:latin typeface="Trebuchet MS"/>
              </a:rPr>
              <a:t>HbA1c testing market: </a:t>
            </a:r>
            <a:r>
              <a:rPr sz="1200" b="0" dirty="0">
                <a:solidFill>
                  <a:srgbClr val="0033CC"/>
                </a:solidFill>
                <a:latin typeface="Trebuchet MS"/>
              </a:rPr>
              <a:t>≈ USD 2.1–2.4B (2023–24)*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B9C432A-69BD-C850-9ED8-355B7DC77D75}"/>
              </a:ext>
            </a:extLst>
          </p:cNvPr>
          <p:cNvSpPr/>
          <p:nvPr/>
        </p:nvSpPr>
        <p:spPr>
          <a:xfrm>
            <a:off x="8002000" y="1700000"/>
            <a:ext cx="3450000" cy="2100000"/>
          </a:xfrm>
          <a:prstGeom prst="rect">
            <a:avLst/>
          </a:prstGeom>
          <a:solidFill>
            <a:srgbClr val="E8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0000" tIns="70000" rIns="100000" bIns="40000" rtlCol="0" anchor="t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033CC"/>
                </a:solidFill>
                <a:latin typeface="Trebuchet MS"/>
              </a:rPr>
              <a:t>3. What does the market need?</a:t>
            </a:r>
          </a:p>
          <a:p>
            <a:pPr marL="171450" indent="-171450" algn="l">
              <a:spcAft>
                <a:spcPts val="300"/>
              </a:spcAft>
              <a:buFont typeface="Arial"/>
              <a:buChar char="•"/>
            </a:pPr>
            <a:r>
              <a:rPr sz="1200" b="1">
                <a:solidFill>
                  <a:srgbClr val="0033CC"/>
                </a:solidFill>
                <a:latin typeface="Trebuchet MS"/>
              </a:rPr>
              <a:t>Trust in the number: </a:t>
            </a:r>
            <a:r>
              <a:rPr sz="1200" b="0">
                <a:solidFill>
                  <a:srgbClr val="0033CC"/>
                </a:solidFill>
                <a:latin typeface="Trebuchet MS"/>
              </a:rPr>
              <a:t>unrecognised HbA1c–glucose discordance can lead to inappropriate treatment escalation and hypoglycaemia risk (South Med J 2026).</a:t>
            </a:r>
          </a:p>
          <a:p>
            <a:pPr marL="171450" indent="-171450" algn="l">
              <a:spcAft>
                <a:spcPts val="300"/>
              </a:spcAft>
              <a:buFont typeface="Arial"/>
              <a:buChar char="•"/>
            </a:pPr>
            <a:r>
              <a:rPr sz="1200" b="1">
                <a:solidFill>
                  <a:srgbClr val="0033CC"/>
                </a:solidFill>
                <a:latin typeface="Trebuchet MS"/>
              </a:rPr>
              <a:t>Guidance: </a:t>
            </a:r>
            <a:r>
              <a:rPr sz="1200" b="0">
                <a:solidFill>
                  <a:srgbClr val="0033CC"/>
                </a:solidFill>
                <a:latin typeface="Trebuchet MS"/>
              </a:rPr>
              <a:t>ADA advises glucose-based confirmation when results disagree – so an early flag, from tests already ordered, is what is needed.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E4F3A4B-E9A0-8EBC-30D5-C76E5878BE0A}"/>
              </a:ext>
            </a:extLst>
          </p:cNvPr>
          <p:cNvSpPr/>
          <p:nvPr/>
        </p:nvSpPr>
        <p:spPr>
          <a:xfrm>
            <a:off x="762000" y="3920000"/>
            <a:ext cx="3450000" cy="2100000"/>
          </a:xfrm>
          <a:prstGeom prst="rect">
            <a:avLst/>
          </a:prstGeom>
          <a:solidFill>
            <a:srgbClr val="E8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0000" tIns="70000" rIns="100000" bIns="40000" rtlCol="0" anchor="t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033CC"/>
                </a:solidFill>
                <a:latin typeface="Trebuchet MS"/>
              </a:rPr>
              <a:t>4. What exists today?</a:t>
            </a:r>
          </a:p>
          <a:p>
            <a:pPr marL="171450" indent="-171450" algn="l">
              <a:spcAft>
                <a:spcPts val="200"/>
              </a:spcAft>
              <a:buFont typeface="Arial"/>
              <a:buChar char="•"/>
            </a:pPr>
            <a:r>
              <a:rPr sz="1200" b="1">
                <a:solidFill>
                  <a:srgbClr val="0033CC"/>
                </a:solidFill>
                <a:latin typeface="Trebuchet MS"/>
              </a:rPr>
              <a:t>CGM reports: </a:t>
            </a:r>
            <a:r>
              <a:rPr sz="1200" b="0">
                <a:solidFill>
                  <a:srgbClr val="0033CC"/>
                </a:solidFill>
                <a:latin typeface="Trebuchet MS"/>
              </a:rPr>
              <a:t>Dexcom Clarity / LibreView show GMI beside lab HbA1c.</a:t>
            </a:r>
          </a:p>
          <a:p>
            <a:pPr marL="171450" indent="-171450" algn="l">
              <a:spcAft>
                <a:spcPts val="200"/>
              </a:spcAft>
              <a:buFont typeface="Arial"/>
              <a:buChar char="•"/>
            </a:pPr>
            <a:r>
              <a:rPr sz="1200" b="1">
                <a:solidFill>
                  <a:srgbClr val="0033CC"/>
                </a:solidFill>
                <a:latin typeface="Trebuchet MS"/>
              </a:rPr>
              <a:t>Checklists / reviews </a:t>
            </a:r>
            <a:r>
              <a:rPr sz="1200" b="0">
                <a:solidFill>
                  <a:srgbClr val="0033CC"/>
                </a:solidFill>
                <a:latin typeface="Trebuchet MS"/>
              </a:rPr>
              <a:t>for manual work-up (Lenters-Westra 2025).</a:t>
            </a:r>
          </a:p>
          <a:p>
            <a:pPr marL="171450" indent="-171450" algn="l">
              <a:spcAft>
                <a:spcPts val="200"/>
              </a:spcAft>
              <a:buFont typeface="Arial"/>
              <a:buChar char="•"/>
            </a:pPr>
            <a:r>
              <a:rPr sz="1200" b="1">
                <a:solidFill>
                  <a:srgbClr val="0033CC"/>
                </a:solidFill>
                <a:latin typeface="Trebuchet MS"/>
              </a:rPr>
              <a:t>Personalised GMI models </a:t>
            </a:r>
            <a:r>
              <a:rPr sz="1200" b="0">
                <a:solidFill>
                  <a:srgbClr val="0033CC"/>
                </a:solidFill>
                <a:latin typeface="Trebuchet MS"/>
              </a:rPr>
              <a:t>(Cichosz, PLOS Digit Health; type 1 diabetes).</a:t>
            </a:r>
          </a:p>
          <a:p>
            <a:pPr marL="171450" indent="-171450" algn="l">
              <a:spcAft>
                <a:spcPts val="0"/>
              </a:spcAft>
              <a:buFont typeface="Arial"/>
              <a:buChar char="•"/>
            </a:pPr>
            <a:r>
              <a:rPr sz="1200" b="1">
                <a:solidFill>
                  <a:srgbClr val="0033CC"/>
                </a:solidFill>
                <a:latin typeface="Trebuchet MS"/>
              </a:rPr>
              <a:t>ML </a:t>
            </a:r>
            <a:r>
              <a:rPr sz="1200" b="0">
                <a:solidFill>
                  <a:srgbClr val="0033CC"/>
                </a:solidFill>
                <a:latin typeface="Trebuchet MS"/>
              </a:rPr>
              <a:t>predicting HbA1c value / dysglycaemia (JMIR Med Inform 2021).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BF4D435-416D-9289-63C5-9E7B6D2F7A02}"/>
              </a:ext>
            </a:extLst>
          </p:cNvPr>
          <p:cNvSpPr/>
          <p:nvPr/>
        </p:nvSpPr>
        <p:spPr>
          <a:xfrm>
            <a:off x="4382000" y="3920000"/>
            <a:ext cx="3450000" cy="2100000"/>
          </a:xfrm>
          <a:prstGeom prst="rect">
            <a:avLst/>
          </a:prstGeom>
          <a:solidFill>
            <a:srgbClr val="E8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0000" tIns="70000" rIns="100000" bIns="40000" rtlCol="0" anchor="t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033CC"/>
                </a:solidFill>
                <a:latin typeface="Trebuchet MS"/>
              </a:rPr>
              <a:t>5. Issues with current solutions</a:t>
            </a:r>
          </a:p>
          <a:p>
            <a:pPr marL="171450" indent="-171450" algn="l">
              <a:spcAft>
                <a:spcPts val="200"/>
              </a:spcAft>
              <a:buFont typeface="Arial"/>
              <a:buChar char="•"/>
            </a:pPr>
            <a:r>
              <a:rPr sz="1200" b="1">
                <a:solidFill>
                  <a:srgbClr val="0033CC"/>
                </a:solidFill>
                <a:latin typeface="Trebuchet MS"/>
              </a:rPr>
              <a:t>CGM-only: </a:t>
            </a:r>
            <a:r>
              <a:rPr sz="1200" b="0">
                <a:solidFill>
                  <a:srgbClr val="0033CC"/>
                </a:solidFill>
                <a:latin typeface="Trebuchet MS"/>
              </a:rPr>
              <a:t>needs a wearer (GMI uses ≥12 days of data), yet 50% of 641 visits differed ≥0.5% (Perlman 2021).</a:t>
            </a:r>
          </a:p>
          <a:p>
            <a:pPr marL="171450" indent="-171450" algn="l">
              <a:spcAft>
                <a:spcPts val="200"/>
              </a:spcAft>
              <a:buFont typeface="Arial"/>
              <a:buChar char="•"/>
            </a:pPr>
            <a:r>
              <a:rPr sz="1200" b="1">
                <a:solidFill>
                  <a:srgbClr val="0033CC"/>
                </a:solidFill>
                <a:latin typeface="Trebuchet MS"/>
              </a:rPr>
              <a:t>Manual: </a:t>
            </a:r>
            <a:r>
              <a:rPr sz="1200" b="0">
                <a:solidFill>
                  <a:srgbClr val="0033CC"/>
                </a:solidFill>
                <a:latin typeface="Trebuchet MS"/>
              </a:rPr>
              <a:t>checklists rely on clinician suspicion.</a:t>
            </a:r>
          </a:p>
          <a:p>
            <a:pPr marL="171450" indent="-171450" algn="l">
              <a:spcAft>
                <a:spcPts val="200"/>
              </a:spcAft>
              <a:buFont typeface="Arial"/>
              <a:buChar char="•"/>
            </a:pPr>
            <a:r>
              <a:rPr sz="1200" b="1">
                <a:solidFill>
                  <a:srgbClr val="0033CC"/>
                </a:solidFill>
                <a:latin typeface="Trebuchet MS"/>
              </a:rPr>
              <a:t>Personalised models: </a:t>
            </a:r>
            <a:r>
              <a:rPr sz="1200" b="0">
                <a:solidFill>
                  <a:srgbClr val="0033CC"/>
                </a:solidFill>
                <a:latin typeface="Trebuchet MS"/>
              </a:rPr>
              <a:t>need prior paired CGM–HbA1c history.</a:t>
            </a:r>
          </a:p>
          <a:p>
            <a:pPr marL="171450" indent="-171450" algn="l">
              <a:spcAft>
                <a:spcPts val="0"/>
              </a:spcAft>
              <a:buFont typeface="Arial"/>
              <a:buChar char="•"/>
            </a:pPr>
            <a:r>
              <a:rPr sz="1200" b="1">
                <a:solidFill>
                  <a:srgbClr val="0033CC"/>
                </a:solidFill>
                <a:latin typeface="Trebuchet MS"/>
              </a:rPr>
              <a:t>ML: </a:t>
            </a:r>
            <a:r>
              <a:rPr sz="1200" b="0">
                <a:solidFill>
                  <a:srgbClr val="0033CC"/>
                </a:solidFill>
                <a:latin typeface="Trebuchet MS"/>
              </a:rPr>
              <a:t>predicts the value, not whether it is reliable.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1F6D4A0-4E79-2FC5-C5D9-A07D20EF0995}"/>
              </a:ext>
            </a:extLst>
          </p:cNvPr>
          <p:cNvSpPr/>
          <p:nvPr/>
        </p:nvSpPr>
        <p:spPr>
          <a:xfrm>
            <a:off x="8002000" y="3920000"/>
            <a:ext cx="3450000" cy="2100000"/>
          </a:xfrm>
          <a:prstGeom prst="rect">
            <a:avLst/>
          </a:prstGeom>
          <a:solidFill>
            <a:srgbClr val="E8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0000" tIns="70000" rIns="100000" bIns="40000" rtlCol="0" anchor="t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033CC"/>
                </a:solidFill>
                <a:latin typeface="Trebuchet MS"/>
              </a:rPr>
              <a:t>6. What is still missing?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0033CC"/>
                </a:solidFill>
                <a:latin typeface="Trebuchet MS"/>
              </a:rPr>
              <a:t>In our literature search we found no published tool that automatically flags an HbA1c as possibly unreliable from a single routine CBC + metabolic panel, device-independent and with an explanation.</a:t>
            </a: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0033CC"/>
                </a:solidFill>
                <a:latin typeface="Trebuchet MS"/>
              </a:rPr>
              <a:t>A1Cognito targets this gap.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2E12D11-05EF-ED74-509E-C81878A5061C}"/>
              </a:ext>
            </a:extLst>
          </p:cNvPr>
          <p:cNvSpPr txBox="1"/>
          <p:nvPr/>
        </p:nvSpPr>
        <p:spPr>
          <a:xfrm>
            <a:off x="762000" y="6330000"/>
            <a:ext cx="1070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dirty="0">
                <a:solidFill>
                  <a:srgbClr val="595959"/>
                </a:solidFill>
                <a:latin typeface="Trebuchet MS"/>
              </a:rPr>
              <a:t>Sources: IDF Diabetes Atlas 11th ed. 2025 (global, India); WHO </a:t>
            </a:r>
            <a:r>
              <a:rPr sz="1000" b="0" dirty="0" err="1">
                <a:solidFill>
                  <a:srgbClr val="595959"/>
                </a:solidFill>
                <a:latin typeface="Trebuchet MS"/>
              </a:rPr>
              <a:t>anaemia</a:t>
            </a:r>
            <a:r>
              <a:rPr sz="1000" b="0" dirty="0">
                <a:solidFill>
                  <a:srgbClr val="595959"/>
                </a:solidFill>
                <a:latin typeface="Trebuchet MS"/>
              </a:rPr>
              <a:t> estimates 2025; NFHS-5 2019–21; South Med J 2026; Perlman et al., Diabetes Technol Ther 2021; Lenters-Westra, </a:t>
            </a:r>
            <a:r>
              <a:rPr sz="1000" b="0" dirty="0" err="1">
                <a:solidFill>
                  <a:srgbClr val="595959"/>
                </a:solidFill>
                <a:latin typeface="Trebuchet MS"/>
              </a:rPr>
              <a:t>Diabet</a:t>
            </a:r>
            <a:r>
              <a:rPr sz="1000" b="0" dirty="0">
                <a:solidFill>
                  <a:srgbClr val="595959"/>
                </a:solidFill>
                <a:latin typeface="Trebuchet MS"/>
              </a:rPr>
              <a:t> Med 2025; Cichosz, PLOS Digit Health; Dexcom Clarity. *Commercial market reports (2.1–2.4B; growth forecasts vary 5.5–12%), not peer-reviewed.</a:t>
            </a:r>
          </a:p>
        </p:txBody>
      </p:sp>
    </p:spTree>
    <p:extLst>
      <p:ext uri="{BB962C8B-B14F-4D97-AF65-F5344CB8AC3E}">
        <p14:creationId xmlns:p14="http://schemas.microsoft.com/office/powerpoint/2010/main" val="2715036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278934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1219200" y="1828800"/>
            <a:ext cx="8077200" cy="4211931"/>
          </a:xfrm>
          <a:prstGeom prst="rect">
            <a:avLst/>
          </a:prstGeom>
        </p:spPr>
        <p:txBody>
          <a:bodyPr/>
          <a:lstStyle/>
          <a:p>
            <a:pPr marL="342891" algn="just" eaLnBrk="0" hangingPunct="0">
              <a:spcBef>
                <a:spcPts val="0"/>
              </a:spcBef>
              <a:spcAft>
                <a:spcPts val="0"/>
              </a:spcAft>
              <a:defRPr/>
            </a:pPr>
            <a:endParaRPr lang="en-US" sz="2400" dirty="0">
              <a:solidFill>
                <a:srgbClr val="0033CC"/>
              </a:solidFill>
              <a:latin typeface="Trebuchet MS"/>
              <a:sym typeface="Trebuchet MS"/>
            </a:endParaRPr>
          </a:p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endParaRPr lang="en-IN" sz="2400" dirty="0">
              <a:solidFill>
                <a:srgbClr val="0000FF"/>
              </a:solidFill>
              <a:latin typeface="Trebuchet MS" pitchFamily="34" charset="0"/>
            </a:endParaRPr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2819400" y="852753"/>
            <a:ext cx="7848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IN" sz="2400" dirty="0">
                <a:solidFill>
                  <a:srgbClr val="FF0000"/>
                </a:solidFill>
                <a:latin typeface="Trebuchet MS" pitchFamily="34" charset="0"/>
              </a:rPr>
              <a:t>Applications/Use cases</a:t>
            </a:r>
            <a:endParaRPr lang="en-US" sz="2400" dirty="0">
              <a:solidFill>
                <a:srgbClr val="FF0000"/>
              </a:solidFill>
              <a:latin typeface="Trebuchet MS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5E63C55-9AD1-2FD5-C197-3C558EEC8A38}"/>
              </a:ext>
            </a:extLst>
          </p:cNvPr>
          <p:cNvSpPr/>
          <p:nvPr/>
        </p:nvSpPr>
        <p:spPr>
          <a:xfrm>
            <a:off x="8002000" y="3970000"/>
            <a:ext cx="3450000" cy="2000000"/>
          </a:xfrm>
          <a:prstGeom prst="rect">
            <a:avLst/>
          </a:prstGeom>
          <a:solidFill>
            <a:srgbClr val="E8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0000" tIns="80000" rIns="110000" bIns="60000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dirty="0">
                <a:solidFill>
                  <a:srgbClr val="0033CC"/>
                </a:solidFill>
                <a:latin typeface="Trebuchet MS"/>
              </a:rPr>
              <a:t>Research &amp; integration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en-IN" sz="1500" dirty="0">
                <a:solidFill>
                  <a:srgbClr val="0033CC"/>
                </a:solidFill>
              </a:rPr>
              <a:t>Provides a </a:t>
            </a:r>
            <a:r>
              <a:rPr lang="en-IN" sz="1500" b="1" dirty="0">
                <a:solidFill>
                  <a:srgbClr val="0033CC"/>
                </a:solidFill>
              </a:rPr>
              <a:t>reproducible discordance-detection pipeline</a:t>
            </a:r>
            <a:r>
              <a:rPr lang="en-IN" sz="1500" dirty="0">
                <a:solidFill>
                  <a:srgbClr val="0033CC"/>
                </a:solidFill>
              </a:rPr>
              <a:t> and a foundation for future </a:t>
            </a:r>
            <a:r>
              <a:rPr lang="en-IN" sz="1500" b="1" dirty="0">
                <a:solidFill>
                  <a:srgbClr val="0033CC"/>
                </a:solidFill>
              </a:rPr>
              <a:t>EHR/clinical workflow integration</a:t>
            </a:r>
            <a:r>
              <a:rPr lang="en-IN" sz="1500" dirty="0">
                <a:solidFill>
                  <a:srgbClr val="0033CC"/>
                </a:solidFill>
              </a:rPr>
              <a:t>.</a:t>
            </a:r>
            <a:endParaRPr sz="1500" b="0" dirty="0">
              <a:solidFill>
                <a:srgbClr val="0033CC"/>
              </a:solidFill>
              <a:latin typeface="Trebuchet M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A775C0-2F33-587E-FC3B-7C4A0178B7A9}"/>
              </a:ext>
            </a:extLst>
          </p:cNvPr>
          <p:cNvSpPr/>
          <p:nvPr/>
        </p:nvSpPr>
        <p:spPr>
          <a:xfrm>
            <a:off x="785327" y="1813110"/>
            <a:ext cx="3450000" cy="2000000"/>
          </a:xfrm>
          <a:prstGeom prst="rect">
            <a:avLst/>
          </a:prstGeom>
          <a:solidFill>
            <a:srgbClr val="E8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0000" tIns="80000" rIns="110000" bIns="60000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dirty="0">
                <a:solidFill>
                  <a:srgbClr val="0033CC"/>
                </a:solidFill>
                <a:latin typeface="Trebuchet MS"/>
              </a:rPr>
              <a:t>Flag at the point of testing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dirty="0">
                <a:solidFill>
                  <a:srgbClr val="0033CC"/>
                </a:solidFill>
                <a:latin typeface="Trebuchet MS"/>
              </a:rPr>
              <a:t>A risk flag with top contributing factors (e.g. low </a:t>
            </a:r>
            <a:r>
              <a:rPr sz="1500" b="0" dirty="0" err="1">
                <a:solidFill>
                  <a:srgbClr val="0033CC"/>
                </a:solidFill>
                <a:latin typeface="Trebuchet MS"/>
              </a:rPr>
              <a:t>haemoglobin</a:t>
            </a:r>
            <a:r>
              <a:rPr sz="1500" b="0" dirty="0">
                <a:solidFill>
                  <a:srgbClr val="0033CC"/>
                </a:solidFill>
                <a:latin typeface="Trebuchet MS"/>
              </a:rPr>
              <a:t> + high RDW) appears alongside the HbA1c result.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37F2176-3C47-40A0-D510-6E55C07F1F8C}"/>
              </a:ext>
            </a:extLst>
          </p:cNvPr>
          <p:cNvSpPr/>
          <p:nvPr/>
        </p:nvSpPr>
        <p:spPr>
          <a:xfrm>
            <a:off x="4405327" y="1803110"/>
            <a:ext cx="3450000" cy="2000000"/>
          </a:xfrm>
          <a:prstGeom prst="rect">
            <a:avLst/>
          </a:prstGeom>
          <a:solidFill>
            <a:srgbClr val="E8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0000" tIns="80000" rIns="110000" bIns="60000" rtlCol="0" anchor="t"/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en-IN" sz="1500" b="1" dirty="0">
                <a:solidFill>
                  <a:srgbClr val="0033CC"/>
                </a:solidFill>
              </a:rPr>
              <a:t>Clinical Decision Support</a:t>
            </a:r>
            <a:endParaRPr sz="1500" b="1" dirty="0">
              <a:solidFill>
                <a:srgbClr val="0033CC"/>
              </a:solidFill>
              <a:latin typeface="Trebuchet MS"/>
            </a:endParaRP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en-IN" sz="1500" dirty="0">
                <a:solidFill>
                  <a:srgbClr val="0033CC"/>
                </a:solidFill>
              </a:rPr>
              <a:t>Highlights patients who may need </a:t>
            </a:r>
            <a:r>
              <a:rPr lang="en-IN" sz="1500" b="1" dirty="0">
                <a:solidFill>
                  <a:srgbClr val="0033CC"/>
                </a:solidFill>
              </a:rPr>
              <a:t>confirmatory glucose-based testing (FPG/OGTT)</a:t>
            </a:r>
            <a:r>
              <a:rPr lang="en-IN" sz="1500" dirty="0">
                <a:solidFill>
                  <a:srgbClr val="0033CC"/>
                </a:solidFill>
              </a:rPr>
              <a:t> when HbA1c and </a:t>
            </a:r>
            <a:r>
              <a:rPr lang="en-IN" sz="1500" dirty="0" err="1">
                <a:solidFill>
                  <a:srgbClr val="0033CC"/>
                </a:solidFill>
              </a:rPr>
              <a:t>glycemic</a:t>
            </a:r>
            <a:r>
              <a:rPr lang="en-IN" sz="1500" dirty="0">
                <a:solidFill>
                  <a:srgbClr val="0033CC"/>
                </a:solidFill>
              </a:rPr>
              <a:t> status may disagree.</a:t>
            </a:r>
            <a:endParaRPr sz="1500" b="0" dirty="0">
              <a:solidFill>
                <a:srgbClr val="0033CC"/>
              </a:solidFill>
              <a:latin typeface="Trebuchet M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47D86E9-6CC0-3B43-1E62-9C44FF32F6DB}"/>
              </a:ext>
            </a:extLst>
          </p:cNvPr>
          <p:cNvSpPr/>
          <p:nvPr/>
        </p:nvSpPr>
        <p:spPr>
          <a:xfrm>
            <a:off x="8025327" y="1803110"/>
            <a:ext cx="3450000" cy="2000000"/>
          </a:xfrm>
          <a:prstGeom prst="rect">
            <a:avLst/>
          </a:prstGeom>
          <a:solidFill>
            <a:srgbClr val="E8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0000" tIns="80000" rIns="110000" bIns="60000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dirty="0">
                <a:solidFill>
                  <a:srgbClr val="0033CC"/>
                </a:solidFill>
                <a:latin typeface="Trebuchet MS"/>
              </a:rPr>
              <a:t>Treatment monitoring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dirty="0">
                <a:solidFill>
                  <a:srgbClr val="0033CC"/>
                </a:solidFill>
                <a:latin typeface="Trebuchet MS"/>
              </a:rPr>
              <a:t>Warns before therapy is escalated on a possibly misleading HbA1c, reducing over-treatment and </a:t>
            </a:r>
            <a:r>
              <a:rPr sz="1500" b="0" dirty="0" err="1">
                <a:solidFill>
                  <a:srgbClr val="0033CC"/>
                </a:solidFill>
                <a:latin typeface="Trebuchet MS"/>
              </a:rPr>
              <a:t>hypoglycaemia</a:t>
            </a:r>
            <a:r>
              <a:rPr sz="1500" b="0" dirty="0">
                <a:solidFill>
                  <a:srgbClr val="0033CC"/>
                </a:solidFill>
                <a:latin typeface="Trebuchet MS"/>
              </a:rPr>
              <a:t> risk.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42E85EC-C879-8B2E-8792-C96EA72A5BEE}"/>
              </a:ext>
            </a:extLst>
          </p:cNvPr>
          <p:cNvSpPr/>
          <p:nvPr/>
        </p:nvSpPr>
        <p:spPr>
          <a:xfrm>
            <a:off x="785327" y="3973110"/>
            <a:ext cx="3450000" cy="2000000"/>
          </a:xfrm>
          <a:prstGeom prst="rect">
            <a:avLst/>
          </a:prstGeom>
          <a:solidFill>
            <a:srgbClr val="E8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0000" tIns="80000" rIns="110000" bIns="60000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dirty="0">
                <a:solidFill>
                  <a:srgbClr val="0033CC"/>
                </a:solidFill>
                <a:latin typeface="Trebuchet MS"/>
              </a:rPr>
              <a:t>Settings without CGM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en-IN" sz="1500" dirty="0">
                <a:solidFill>
                  <a:srgbClr val="0033CC"/>
                </a:solidFill>
              </a:rPr>
              <a:t>Uses </a:t>
            </a:r>
            <a:r>
              <a:rPr lang="en-IN" sz="1500" b="1" dirty="0">
                <a:solidFill>
                  <a:srgbClr val="0033CC"/>
                </a:solidFill>
              </a:rPr>
              <a:t>routine CBC and biochemical tests</a:t>
            </a:r>
            <a:r>
              <a:rPr lang="en-IN" sz="1500" dirty="0">
                <a:solidFill>
                  <a:srgbClr val="0033CC"/>
                </a:solidFill>
              </a:rPr>
              <a:t> already collected during clinical care, without requiring a CGM device.</a:t>
            </a:r>
            <a:endParaRPr sz="1500" b="0" dirty="0">
              <a:solidFill>
                <a:srgbClr val="0033CC"/>
              </a:solidFill>
              <a:latin typeface="Trebuchet M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89175A9-8CB8-42D3-4336-EB87076600C9}"/>
              </a:ext>
            </a:extLst>
          </p:cNvPr>
          <p:cNvSpPr/>
          <p:nvPr/>
        </p:nvSpPr>
        <p:spPr>
          <a:xfrm>
            <a:off x="4405327" y="3973110"/>
            <a:ext cx="3450000" cy="2000000"/>
          </a:xfrm>
          <a:prstGeom prst="rect">
            <a:avLst/>
          </a:prstGeom>
          <a:solidFill>
            <a:srgbClr val="E8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0000" tIns="80000" rIns="110000" bIns="60000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dirty="0" err="1">
                <a:solidFill>
                  <a:srgbClr val="0033CC"/>
                </a:solidFill>
                <a:latin typeface="Trebuchet MS"/>
              </a:rPr>
              <a:t>Anaemia</a:t>
            </a:r>
            <a:r>
              <a:rPr sz="1500" b="1" dirty="0">
                <a:solidFill>
                  <a:srgbClr val="0033CC"/>
                </a:solidFill>
                <a:latin typeface="Trebuchet MS"/>
              </a:rPr>
              <a:t>-endemic populations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en-IN" sz="1500" dirty="0">
                <a:solidFill>
                  <a:srgbClr val="0033CC"/>
                </a:solidFill>
              </a:rPr>
              <a:t>Can support screening in populations where </a:t>
            </a:r>
            <a:r>
              <a:rPr lang="en-IN" sz="1500" b="1" dirty="0">
                <a:solidFill>
                  <a:srgbClr val="0033CC"/>
                </a:solidFill>
              </a:rPr>
              <a:t>iron deficiency and anaemia are prevalent</a:t>
            </a:r>
            <a:r>
              <a:rPr lang="en-IN" sz="1500" dirty="0">
                <a:solidFill>
                  <a:srgbClr val="0033CC"/>
                </a:solidFill>
              </a:rPr>
              <a:t>, helping identify patients who may require further HbA1c assessment.</a:t>
            </a:r>
            <a:endParaRPr sz="1500" b="0" dirty="0">
              <a:solidFill>
                <a:srgbClr val="0033CC"/>
              </a:solidFill>
              <a:latin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42053692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29986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Text Box 34"/>
          <p:cNvSpPr txBox="1">
            <a:spLocks noChangeArrowheads="1"/>
          </p:cNvSpPr>
          <p:nvPr/>
        </p:nvSpPr>
        <p:spPr bwMode="auto">
          <a:xfrm>
            <a:off x="1905000" y="838200"/>
            <a:ext cx="8763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r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Expected Deliverables</a:t>
            </a:r>
            <a:endParaRPr lang="en-US" sz="2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572EF9-8FC2-E873-3668-8064524402C5}"/>
              </a:ext>
            </a:extLst>
          </p:cNvPr>
          <p:cNvSpPr/>
          <p:nvPr/>
        </p:nvSpPr>
        <p:spPr>
          <a:xfrm>
            <a:off x="457200" y="1828800"/>
            <a:ext cx="3505200" cy="4572000"/>
          </a:xfrm>
          <a:prstGeom prst="rect">
            <a:avLst/>
          </a:prstGeom>
          <a:solidFill>
            <a:srgbClr val="E8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0000" tIns="80000" rIns="110000" bIns="60000" rtlCol="0" anchor="t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b="1" u="sng" dirty="0">
                <a:solidFill>
                  <a:srgbClr val="0033CC"/>
                </a:solidFill>
                <a:latin typeface="Trebuchet MS"/>
              </a:rPr>
              <a:t>Capstone-I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33CC"/>
                </a:solidFill>
              </a:rPr>
              <a:t>Literature review, research-gap analysis &amp; 8-category factor taxonomy.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33CC"/>
                </a:solidFill>
              </a:rPr>
              <a:t>Problem formulation &amp; HbA1c–</a:t>
            </a:r>
            <a:r>
              <a:rPr lang="en-IN" dirty="0" err="1">
                <a:solidFill>
                  <a:srgbClr val="0033CC"/>
                </a:solidFill>
              </a:rPr>
              <a:t>glycemic</a:t>
            </a:r>
            <a:r>
              <a:rPr lang="en-IN" dirty="0">
                <a:solidFill>
                  <a:srgbClr val="0033CC"/>
                </a:solidFill>
              </a:rPr>
              <a:t> discordance definition.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33CC"/>
                </a:solidFill>
              </a:rPr>
              <a:t>NHANES data acquisition, merging, cleaning &amp; EDA.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33CC"/>
                </a:solidFill>
              </a:rPr>
              <a:t>Feature engineering &amp; dataset preparation.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33CC"/>
                </a:solidFill>
              </a:rPr>
              <a:t>Baseline models + initial feasibility results.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33CC"/>
                </a:solidFill>
              </a:rPr>
              <a:t>Report &amp; review.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E29861-BE61-594B-2C7D-D4CA457A65D7}"/>
              </a:ext>
            </a:extLst>
          </p:cNvPr>
          <p:cNvSpPr/>
          <p:nvPr/>
        </p:nvSpPr>
        <p:spPr>
          <a:xfrm>
            <a:off x="4115258" y="1828800"/>
            <a:ext cx="3505200" cy="4572000"/>
          </a:xfrm>
          <a:prstGeom prst="rect">
            <a:avLst/>
          </a:prstGeom>
          <a:solidFill>
            <a:srgbClr val="E8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0000" tIns="80000" rIns="110000" bIns="60000" rtlCol="0" anchor="t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b="1" u="sng" dirty="0">
                <a:solidFill>
                  <a:srgbClr val="0033CC"/>
                </a:solidFill>
                <a:latin typeface="Trebuchet MS"/>
              </a:rPr>
              <a:t>Capstone-II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33CC"/>
                </a:solidFill>
              </a:rPr>
              <a:t>Final ML model development, tuning &amp; probability calibration.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33CC"/>
                </a:solidFill>
              </a:rPr>
              <a:t>Discordance Risk Score + SHAP-based explanations.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33CC"/>
                </a:solidFill>
              </a:rPr>
              <a:t>Feature selection &amp; model interpretation.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33CC"/>
                </a:solidFill>
              </a:rPr>
              <a:t>Subgroup validation — age, sex, BMI &amp; ethnicity.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33CC"/>
                </a:solidFill>
              </a:rPr>
              <a:t>Clinician-facing dashboard/prototype.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33CC"/>
                </a:solidFill>
              </a:rPr>
              <a:t>Capstone-II report &amp; evaluation.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BD7967-601F-9417-F9BD-3BC93EEE0E41}"/>
              </a:ext>
            </a:extLst>
          </p:cNvPr>
          <p:cNvSpPr/>
          <p:nvPr/>
        </p:nvSpPr>
        <p:spPr>
          <a:xfrm>
            <a:off x="7773316" y="1828799"/>
            <a:ext cx="3505199" cy="4571999"/>
          </a:xfrm>
          <a:prstGeom prst="rect">
            <a:avLst/>
          </a:prstGeom>
          <a:solidFill>
            <a:srgbClr val="E8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0000" tIns="80000" rIns="110000" bIns="60000" rtlCol="0" anchor="t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b="1" u="sng" dirty="0">
                <a:solidFill>
                  <a:srgbClr val="0033CC"/>
                </a:solidFill>
                <a:latin typeface="Trebuchet MS"/>
              </a:rPr>
              <a:t>Capstone-III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33CC"/>
                </a:solidFill>
              </a:rPr>
              <a:t>External/additional-dataset validation, where data is accessible.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33CC"/>
                </a:solidFill>
              </a:rPr>
              <a:t>Robustness &amp; limitation analysis — Hb variants, drugs, haemolysis &amp; assay interference.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33CC"/>
                </a:solidFill>
              </a:rPr>
              <a:t>End-to-end prototype refinement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33CC"/>
                </a:solidFill>
              </a:rPr>
              <a:t>EHR integration concept / workflow demonstration.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33CC"/>
                </a:solidFill>
              </a:rPr>
              <a:t>Research manuscript, final report &amp; project demonstration.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020008" y="1303741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Text Box 34"/>
          <p:cNvSpPr txBox="1">
            <a:spLocks noChangeArrowheads="1"/>
          </p:cNvSpPr>
          <p:nvPr/>
        </p:nvSpPr>
        <p:spPr bwMode="auto">
          <a:xfrm>
            <a:off x="2895600" y="838200"/>
            <a:ext cx="7772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r" eaLnBrk="0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400" dirty="0">
                <a:solidFill>
                  <a:srgbClr val="FF0000"/>
                </a:solidFill>
                <a:latin typeface="Trebuchet MS"/>
              </a:rPr>
              <a:t>Capstone (Phase-I &amp; Phase-II) Project Timeline</a:t>
            </a:r>
            <a:endParaRPr lang="en-US" sz="2400" dirty="0">
              <a:solidFill>
                <a:srgbClr val="FF0000"/>
              </a:solidFill>
              <a:latin typeface="Trebuchet MS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4B71857-5A0A-3904-6ABC-6C70A977A6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5490136"/>
              </p:ext>
            </p:extLst>
          </p:nvPr>
        </p:nvGraphicFramePr>
        <p:xfrm>
          <a:off x="152400" y="1413280"/>
          <a:ext cx="11963400" cy="53586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90850">
                  <a:extLst>
                    <a:ext uri="{9D8B030D-6E8A-4147-A177-3AD203B41FA5}">
                      <a16:colId xmlns:a16="http://schemas.microsoft.com/office/drawing/2014/main" val="3926613608"/>
                    </a:ext>
                  </a:extLst>
                </a:gridCol>
                <a:gridCol w="2990850">
                  <a:extLst>
                    <a:ext uri="{9D8B030D-6E8A-4147-A177-3AD203B41FA5}">
                      <a16:colId xmlns:a16="http://schemas.microsoft.com/office/drawing/2014/main" val="3497213767"/>
                    </a:ext>
                  </a:extLst>
                </a:gridCol>
                <a:gridCol w="2990850">
                  <a:extLst>
                    <a:ext uri="{9D8B030D-6E8A-4147-A177-3AD203B41FA5}">
                      <a16:colId xmlns:a16="http://schemas.microsoft.com/office/drawing/2014/main" val="770403180"/>
                    </a:ext>
                  </a:extLst>
                </a:gridCol>
                <a:gridCol w="2990850">
                  <a:extLst>
                    <a:ext uri="{9D8B030D-6E8A-4147-A177-3AD203B41FA5}">
                      <a16:colId xmlns:a16="http://schemas.microsoft.com/office/drawing/2014/main" val="4046052049"/>
                    </a:ext>
                  </a:extLst>
                </a:gridCol>
              </a:tblGrid>
              <a:tr h="46468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b="1" dirty="0">
                        <a:solidFill>
                          <a:srgbClr val="0033CC"/>
                        </a:solidFill>
                      </a:endParaRP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>
                          <a:solidFill>
                            <a:srgbClr val="0033CC"/>
                          </a:solidFill>
                        </a:rPr>
                        <a:t>PHASE-I</a:t>
                      </a:r>
                      <a:endParaRPr lang="en-IN" sz="1800" b="1" dirty="0">
                        <a:solidFill>
                          <a:srgbClr val="0033CC"/>
                        </a:solidFill>
                      </a:endParaRPr>
                    </a:p>
                  </a:txBody>
                  <a:tcPr marL="63063" marR="63063" marT="31531" marB="31531" anchor="ctr"/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>
                          <a:solidFill>
                            <a:srgbClr val="0033CC"/>
                          </a:solidFill>
                        </a:rPr>
                        <a:t>PHASE-II</a:t>
                      </a:r>
                      <a:endParaRPr lang="en-IN" sz="1800" b="1" dirty="0">
                        <a:solidFill>
                          <a:srgbClr val="0033CC"/>
                        </a:solidFill>
                      </a:endParaRPr>
                    </a:p>
                  </a:txBody>
                  <a:tcPr marL="63063" marR="63063" marT="31531" marB="31531" anchor="ctr"/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en-IN" sz="1800" b="1" dirty="0">
                        <a:solidFill>
                          <a:srgbClr val="0033CC"/>
                        </a:solidFill>
                      </a:endParaRPr>
                    </a:p>
                  </a:txBody>
                  <a:tcPr marL="63063" marR="63063" marT="31531" marB="31531" anchor="ctr"/>
                </a:tc>
                <a:extLst>
                  <a:ext uri="{0D108BD9-81ED-4DB2-BD59-A6C34878D82A}">
                    <a16:rowId xmlns:a16="http://schemas.microsoft.com/office/drawing/2014/main" val="3693919508"/>
                  </a:ext>
                </a:extLst>
              </a:tr>
              <a:tr h="4646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solidFill>
                            <a:srgbClr val="0033CC"/>
                          </a:solidFill>
                        </a:rPr>
                        <a:t>Work Package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solidFill>
                            <a:srgbClr val="0033CC"/>
                          </a:solidFill>
                        </a:rPr>
                        <a:t>FOUNDATION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solidFill>
                            <a:srgbClr val="0033CC"/>
                          </a:solidFill>
                        </a:rPr>
                        <a:t>MODEL DEVELOPMENT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solidFill>
                            <a:srgbClr val="0033CC"/>
                          </a:solidFill>
                        </a:rPr>
                        <a:t>VALIDATION &amp; FINALIZATION</a:t>
                      </a:r>
                    </a:p>
                  </a:txBody>
                  <a:tcPr marL="63063" marR="63063" marT="31531" marB="31531" anchor="ctr"/>
                </a:tc>
                <a:extLst>
                  <a:ext uri="{0D108BD9-81ED-4DB2-BD59-A6C34878D82A}">
                    <a16:rowId xmlns:a16="http://schemas.microsoft.com/office/drawing/2014/main" val="2100380968"/>
                  </a:ext>
                </a:extLst>
              </a:tr>
              <a:tr h="289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solidFill>
                            <a:srgbClr val="0033CC"/>
                          </a:solidFill>
                        </a:rPr>
                        <a:t>Literature &amp; gap analysis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█████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>
                        <a:solidFill>
                          <a:srgbClr val="0033CC"/>
                        </a:solidFill>
                      </a:endParaRP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/>
                    </a:p>
                  </a:txBody>
                  <a:tcPr marL="63063" marR="63063" marT="31531" marB="31531" anchor="ctr"/>
                </a:tc>
                <a:extLst>
                  <a:ext uri="{0D108BD9-81ED-4DB2-BD59-A6C34878D82A}">
                    <a16:rowId xmlns:a16="http://schemas.microsoft.com/office/drawing/2014/main" val="424379345"/>
                  </a:ext>
                </a:extLst>
              </a:tr>
              <a:tr h="4646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solidFill>
                            <a:srgbClr val="0033CC"/>
                          </a:solidFill>
                        </a:rPr>
                        <a:t>Problem + discordance definition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█████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/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/>
                    </a:p>
                  </a:txBody>
                  <a:tcPr marL="63063" marR="63063" marT="31531" marB="31531" anchor="ctr"/>
                </a:tc>
                <a:extLst>
                  <a:ext uri="{0D108BD9-81ED-4DB2-BD59-A6C34878D82A}">
                    <a16:rowId xmlns:a16="http://schemas.microsoft.com/office/drawing/2014/main" val="2813636696"/>
                  </a:ext>
                </a:extLst>
              </a:tr>
              <a:tr h="289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solidFill>
                            <a:srgbClr val="0033CC"/>
                          </a:solidFill>
                        </a:rPr>
                        <a:t>Data pipeline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█████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/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/>
                    </a:p>
                  </a:txBody>
                  <a:tcPr marL="63063" marR="63063" marT="31531" marB="31531" anchor="ctr"/>
                </a:tc>
                <a:extLst>
                  <a:ext uri="{0D108BD9-81ED-4DB2-BD59-A6C34878D82A}">
                    <a16:rowId xmlns:a16="http://schemas.microsoft.com/office/drawing/2014/main" val="979988758"/>
                  </a:ext>
                </a:extLst>
              </a:tr>
              <a:tr h="289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solidFill>
                            <a:srgbClr val="0033CC"/>
                          </a:solidFill>
                        </a:rPr>
                        <a:t>Cleaning + EDA + features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█████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██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/>
                    </a:p>
                  </a:txBody>
                  <a:tcPr marL="63063" marR="63063" marT="31531" marB="31531" anchor="ctr"/>
                </a:tc>
                <a:extLst>
                  <a:ext uri="{0D108BD9-81ED-4DB2-BD59-A6C34878D82A}">
                    <a16:rowId xmlns:a16="http://schemas.microsoft.com/office/drawing/2014/main" val="3760563451"/>
                  </a:ext>
                </a:extLst>
              </a:tr>
              <a:tr h="289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solidFill>
                            <a:srgbClr val="0033CC"/>
                          </a:solidFill>
                        </a:rPr>
                        <a:t>Baseline + feasibility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████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██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/>
                    </a:p>
                  </a:txBody>
                  <a:tcPr marL="63063" marR="63063" marT="31531" marB="31531" anchor="ctr"/>
                </a:tc>
                <a:extLst>
                  <a:ext uri="{0D108BD9-81ED-4DB2-BD59-A6C34878D82A}">
                    <a16:rowId xmlns:a16="http://schemas.microsoft.com/office/drawing/2014/main" val="2480583265"/>
                  </a:ext>
                </a:extLst>
              </a:tr>
              <a:tr h="289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solidFill>
                            <a:srgbClr val="0033CC"/>
                          </a:solidFill>
                        </a:rPr>
                        <a:t>ML model development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/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█████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/>
                    </a:p>
                  </a:txBody>
                  <a:tcPr marL="63063" marR="63063" marT="31531" marB="31531" anchor="ctr"/>
                </a:tc>
                <a:extLst>
                  <a:ext uri="{0D108BD9-81ED-4DB2-BD59-A6C34878D82A}">
                    <a16:rowId xmlns:a16="http://schemas.microsoft.com/office/drawing/2014/main" val="4184877485"/>
                  </a:ext>
                </a:extLst>
              </a:tr>
              <a:tr h="289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solidFill>
                            <a:srgbClr val="0033CC"/>
                          </a:solidFill>
                        </a:rPr>
                        <a:t>XGBoost + calibration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/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█████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/>
                    </a:p>
                  </a:txBody>
                  <a:tcPr marL="63063" marR="63063" marT="31531" marB="31531" anchor="ctr"/>
                </a:tc>
                <a:extLst>
                  <a:ext uri="{0D108BD9-81ED-4DB2-BD59-A6C34878D82A}">
                    <a16:rowId xmlns:a16="http://schemas.microsoft.com/office/drawing/2014/main" val="4139565979"/>
                  </a:ext>
                </a:extLst>
              </a:tr>
              <a:tr h="289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solidFill>
                            <a:srgbClr val="0033CC"/>
                          </a:solidFill>
                        </a:rPr>
                        <a:t>SHAP + feature selection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/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████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/>
                    </a:p>
                  </a:txBody>
                  <a:tcPr marL="63063" marR="63063" marT="31531" marB="31531" anchor="ctr"/>
                </a:tc>
                <a:extLst>
                  <a:ext uri="{0D108BD9-81ED-4DB2-BD59-A6C34878D82A}">
                    <a16:rowId xmlns:a16="http://schemas.microsoft.com/office/drawing/2014/main" val="730870918"/>
                  </a:ext>
                </a:extLst>
              </a:tr>
              <a:tr h="289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solidFill>
                            <a:srgbClr val="0033CC"/>
                          </a:solidFill>
                        </a:rPr>
                        <a:t>Subgroup validation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/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█████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/>
                    </a:p>
                  </a:txBody>
                  <a:tcPr marL="63063" marR="63063" marT="31531" marB="31531" anchor="ctr"/>
                </a:tc>
                <a:extLst>
                  <a:ext uri="{0D108BD9-81ED-4DB2-BD59-A6C34878D82A}">
                    <a16:rowId xmlns:a16="http://schemas.microsoft.com/office/drawing/2014/main" val="1843195172"/>
                  </a:ext>
                </a:extLst>
              </a:tr>
              <a:tr h="289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solidFill>
                            <a:srgbClr val="0033CC"/>
                          </a:solidFill>
                        </a:rPr>
                        <a:t>Clinical dashboard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/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███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███</a:t>
                      </a:r>
                    </a:p>
                  </a:txBody>
                  <a:tcPr marL="63063" marR="63063" marT="31531" marB="31531" anchor="ctr"/>
                </a:tc>
                <a:extLst>
                  <a:ext uri="{0D108BD9-81ED-4DB2-BD59-A6C34878D82A}">
                    <a16:rowId xmlns:a16="http://schemas.microsoft.com/office/drawing/2014/main" val="84874209"/>
                  </a:ext>
                </a:extLst>
              </a:tr>
              <a:tr h="289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solidFill>
                            <a:srgbClr val="0033CC"/>
                          </a:solidFill>
                        </a:rPr>
                        <a:t>External validation*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/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/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█████</a:t>
                      </a:r>
                    </a:p>
                  </a:txBody>
                  <a:tcPr marL="63063" marR="63063" marT="31531" marB="31531" anchor="ctr"/>
                </a:tc>
                <a:extLst>
                  <a:ext uri="{0D108BD9-81ED-4DB2-BD59-A6C34878D82A}">
                    <a16:rowId xmlns:a16="http://schemas.microsoft.com/office/drawing/2014/main" val="3544738019"/>
                  </a:ext>
                </a:extLst>
              </a:tr>
              <a:tr h="289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solidFill>
                            <a:srgbClr val="0033CC"/>
                          </a:solidFill>
                        </a:rPr>
                        <a:t>Robustness + limitations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/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████</a:t>
                      </a:r>
                    </a:p>
                  </a:txBody>
                  <a:tcPr marL="63063" marR="63063" marT="31531" marB="31531" anchor="ctr"/>
                </a:tc>
                <a:extLst>
                  <a:ext uri="{0D108BD9-81ED-4DB2-BD59-A6C34878D82A}">
                    <a16:rowId xmlns:a16="http://schemas.microsoft.com/office/drawing/2014/main" val="2341390920"/>
                  </a:ext>
                </a:extLst>
              </a:tr>
              <a:tr h="289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solidFill>
                            <a:srgbClr val="0033CC"/>
                          </a:solidFill>
                        </a:rPr>
                        <a:t>EHR workflow concept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/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/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███</a:t>
                      </a:r>
                    </a:p>
                  </a:txBody>
                  <a:tcPr marL="63063" marR="63063" marT="31531" marB="31531" anchor="ctr"/>
                </a:tc>
                <a:extLst>
                  <a:ext uri="{0D108BD9-81ED-4DB2-BD59-A6C34878D82A}">
                    <a16:rowId xmlns:a16="http://schemas.microsoft.com/office/drawing/2014/main" val="4241709314"/>
                  </a:ext>
                </a:extLst>
              </a:tr>
              <a:tr h="4646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solidFill>
                            <a:srgbClr val="0033CC"/>
                          </a:solidFill>
                        </a:rPr>
                        <a:t>Final report + manuscript + demo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/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█████</a:t>
                      </a:r>
                    </a:p>
                  </a:txBody>
                  <a:tcPr marL="63063" marR="63063" marT="31531" marB="31531" anchor="ctr"/>
                </a:tc>
                <a:extLst>
                  <a:ext uri="{0D108BD9-81ED-4DB2-BD59-A6C34878D82A}">
                    <a16:rowId xmlns:a16="http://schemas.microsoft.com/office/drawing/2014/main" val="391781895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Text Box 34"/>
          <p:cNvSpPr txBox="1">
            <a:spLocks noChangeArrowheads="1"/>
          </p:cNvSpPr>
          <p:nvPr/>
        </p:nvSpPr>
        <p:spPr bwMode="auto">
          <a:xfrm>
            <a:off x="2895600" y="1143002"/>
            <a:ext cx="7772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Any other information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2ED56F-BF1C-9EF9-1367-09128D072C60}"/>
              </a:ext>
            </a:extLst>
          </p:cNvPr>
          <p:cNvSpPr txBox="1"/>
          <p:nvPr/>
        </p:nvSpPr>
        <p:spPr>
          <a:xfrm>
            <a:off x="838200" y="1752600"/>
            <a:ext cx="51816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solidFill>
                  <a:srgbClr val="0033CC"/>
                </a:solidFill>
              </a:rPr>
              <a:t>HbA1c</a:t>
            </a:r>
          </a:p>
          <a:p>
            <a:endParaRPr lang="en-IN" b="1" u="sng" dirty="0">
              <a:solidFill>
                <a:srgbClr val="0033CC"/>
              </a:solidFill>
            </a:endParaRPr>
          </a:p>
          <a:p>
            <a:pPr lvl="0"/>
            <a:r>
              <a:rPr lang="en-IN" dirty="0">
                <a:solidFill>
                  <a:srgbClr val="0033CC"/>
                </a:solidFill>
              </a:rPr>
              <a:t>Estimates glucose indirectly through glycation of haemoglobin/RBCs.</a:t>
            </a:r>
            <a:br>
              <a:rPr lang="en-IN" dirty="0">
                <a:solidFill>
                  <a:srgbClr val="0033CC"/>
                </a:solidFill>
              </a:rPr>
            </a:br>
            <a:endParaRPr lang="en-IN" dirty="0">
              <a:solidFill>
                <a:srgbClr val="0033CC"/>
              </a:solidFill>
            </a:endParaRPr>
          </a:p>
          <a:p>
            <a:pPr lvl="0"/>
            <a:r>
              <a:rPr lang="en-IN" dirty="0">
                <a:solidFill>
                  <a:srgbClr val="0033CC"/>
                </a:solidFill>
              </a:rPr>
              <a:t>Therefore, factors affecting RBC lifespan, haemoglobin, etc. can create HbA1c–glucose discordance.</a:t>
            </a:r>
          </a:p>
          <a:p>
            <a:pPr lvl="0"/>
            <a:endParaRPr lang="en-IN" dirty="0">
              <a:solidFill>
                <a:srgbClr val="0033CC"/>
              </a:solidFill>
            </a:endParaRPr>
          </a:p>
          <a:p>
            <a:pPr lvl="0"/>
            <a:r>
              <a:rPr lang="en-IN" dirty="0">
                <a:solidFill>
                  <a:srgbClr val="0033CC"/>
                </a:solidFill>
              </a:rPr>
              <a:t>The result is a single laboratory value and doesn't itself explain why it may disagree with glucose.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0B595B-7D3D-2BB2-D3F9-25BF5B441B7A}"/>
              </a:ext>
            </a:extLst>
          </p:cNvPr>
          <p:cNvSpPr txBox="1"/>
          <p:nvPr/>
        </p:nvSpPr>
        <p:spPr>
          <a:xfrm>
            <a:off x="6400802" y="1752600"/>
            <a:ext cx="510539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solidFill>
                  <a:srgbClr val="0033CC"/>
                </a:solidFill>
              </a:rPr>
              <a:t>CGM</a:t>
            </a:r>
          </a:p>
          <a:p>
            <a:endParaRPr lang="en-IN" b="1" u="sng" dirty="0">
              <a:solidFill>
                <a:srgbClr val="0033CC"/>
              </a:solidFill>
            </a:endParaRPr>
          </a:p>
          <a:p>
            <a:pPr lvl="0"/>
            <a:r>
              <a:rPr lang="en-IN" dirty="0">
                <a:solidFill>
                  <a:srgbClr val="0033CC"/>
                </a:solidFill>
              </a:rPr>
              <a:t>Measures glucose in interstitial fluid continuously, rather than relying on RBC lifespan or haemoglobin.</a:t>
            </a:r>
          </a:p>
          <a:p>
            <a:pPr lvl="0"/>
            <a:endParaRPr lang="en-IN" dirty="0">
              <a:solidFill>
                <a:srgbClr val="0033CC"/>
              </a:solidFill>
            </a:endParaRPr>
          </a:p>
          <a:p>
            <a:pPr lvl="0"/>
            <a:r>
              <a:rPr lang="en-IN" dirty="0">
                <a:solidFill>
                  <a:srgbClr val="0033CC"/>
                </a:solidFill>
              </a:rPr>
              <a:t>Therefore, many of the RBC-related factors that can distort HbA1c do not directly distort CGM in the same way.</a:t>
            </a:r>
          </a:p>
          <a:p>
            <a:pPr lvl="0"/>
            <a:endParaRPr lang="en-IN" dirty="0">
              <a:solidFill>
                <a:srgbClr val="0033CC"/>
              </a:solidFill>
            </a:endParaRPr>
          </a:p>
          <a:p>
            <a:pPr lvl="0"/>
            <a:r>
              <a:rPr lang="en-IN" dirty="0">
                <a:solidFill>
                  <a:srgbClr val="0033CC"/>
                </a:solidFill>
              </a:rPr>
              <a:t>But CGM itself has limitations such as sensor bias, monitoring duration, missing data, and some medication/substance interference.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EFD78C-9ECC-A853-3ECE-6C19C2EEC998}"/>
              </a:ext>
            </a:extLst>
          </p:cNvPr>
          <p:cNvSpPr txBox="1"/>
          <p:nvPr/>
        </p:nvSpPr>
        <p:spPr>
          <a:xfrm>
            <a:off x="685800" y="5724329"/>
            <a:ext cx="10820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0033CC"/>
                </a:solidFill>
              </a:rPr>
              <a:t>CGM provides glucose measurements; it doesn't necessarily identify </a:t>
            </a:r>
            <a:r>
              <a:rPr lang="en-IN" sz="2000" b="1" i="1" dirty="0">
                <a:solidFill>
                  <a:srgbClr val="0033CC"/>
                </a:solidFill>
              </a:rPr>
              <a:t>why</a:t>
            </a:r>
            <a:r>
              <a:rPr lang="en-IN" sz="2000" b="1" dirty="0">
                <a:solidFill>
                  <a:srgbClr val="0033CC"/>
                </a:solidFill>
              </a:rPr>
              <a:t> HbA1c and glucose disagree.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34">
            <a:extLst>
              <a:ext uri="{FF2B5EF4-FFF2-40B4-BE49-F238E27FC236}">
                <a16:creationId xmlns:a16="http://schemas.microsoft.com/office/drawing/2014/main" id="{77FE0E60-AFEE-24B2-D2DE-5AAA9E0046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3829" y="858933"/>
            <a:ext cx="7772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CATEGORIES WE ARE WORKING 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B32B19-34D4-AAC8-AC44-C495F21B97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6229" y="1302342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CECD00-5EB2-3E74-BDD7-48A7ACE758D6}"/>
              </a:ext>
            </a:extLst>
          </p:cNvPr>
          <p:cNvSpPr txBox="1"/>
          <p:nvPr/>
        </p:nvSpPr>
        <p:spPr>
          <a:xfrm>
            <a:off x="609600" y="1447800"/>
            <a:ext cx="1074420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AutoNum type="arabicPeriod"/>
            </a:pPr>
            <a:r>
              <a:rPr lang="en-IN" b="1" dirty="0">
                <a:solidFill>
                  <a:srgbClr val="0033CC"/>
                </a:solidFill>
              </a:rPr>
              <a:t>Conditions that prolong RBC lifespan or reduce RBC production → falsely HIGH HbA1c.</a:t>
            </a:r>
          </a:p>
          <a:p>
            <a:pPr algn="just"/>
            <a:r>
              <a:rPr lang="en-IN" dirty="0">
                <a:solidFill>
                  <a:srgbClr val="0033CC"/>
                </a:solidFill>
              </a:rPr>
              <a:t>Iron-deficiency anaemia,  Vitamin B12 deficiency,  Folate deficiency,  Splenectomy (spleen removal — cells live longer without it),  Aplastic anaemia / reduced erythropoiesis states.</a:t>
            </a:r>
          </a:p>
          <a:p>
            <a:pPr algn="just"/>
            <a:endParaRPr lang="en-IN" b="1" dirty="0">
              <a:solidFill>
                <a:srgbClr val="0033CC"/>
              </a:solidFill>
            </a:endParaRPr>
          </a:p>
          <a:p>
            <a:pPr algn="just"/>
            <a:r>
              <a:rPr lang="en-IN" b="1" dirty="0">
                <a:solidFill>
                  <a:srgbClr val="0033CC"/>
                </a:solidFill>
              </a:rPr>
              <a:t>2. Chronic organ disease.</a:t>
            </a:r>
          </a:p>
          <a:p>
            <a:pPr algn="just"/>
            <a:r>
              <a:rPr lang="en-IN" dirty="0">
                <a:solidFill>
                  <a:srgbClr val="0033CC"/>
                </a:solidFill>
              </a:rPr>
              <a:t>Chronic kidney disease, Chronic liver disease, Heart failure.</a:t>
            </a:r>
          </a:p>
          <a:p>
            <a:pPr algn="just"/>
            <a:endParaRPr lang="en-IN" b="1" dirty="0">
              <a:solidFill>
                <a:srgbClr val="0033CC"/>
              </a:solidFill>
            </a:endParaRPr>
          </a:p>
          <a:p>
            <a:pPr algn="just"/>
            <a:r>
              <a:rPr lang="en-IN" b="1" dirty="0">
                <a:solidFill>
                  <a:srgbClr val="0033CC"/>
                </a:solidFill>
              </a:rPr>
              <a:t>3. Nutritional / biochemical status.</a:t>
            </a:r>
          </a:p>
          <a:p>
            <a:pPr lvl="0" algn="just"/>
            <a:r>
              <a:rPr lang="en-IN" dirty="0">
                <a:solidFill>
                  <a:srgbClr val="0033CC"/>
                </a:solidFill>
              </a:rPr>
              <a:t>Hypoalbuminemia / poor protein-nutritional status, Chronic inflammation (elevated CRP),  Alcoholism</a:t>
            </a:r>
          </a:p>
          <a:p>
            <a:pPr algn="just"/>
            <a:r>
              <a:rPr lang="en-IN" dirty="0">
                <a:solidFill>
                  <a:srgbClr val="0033CC"/>
                </a:solidFill>
              </a:rPr>
              <a:t>High-dose vitamin C or vitamin E supplementation.</a:t>
            </a:r>
          </a:p>
          <a:p>
            <a:pPr algn="just"/>
            <a:endParaRPr lang="en-IN" b="1" dirty="0">
              <a:solidFill>
                <a:srgbClr val="0033CC"/>
              </a:solidFill>
            </a:endParaRPr>
          </a:p>
          <a:p>
            <a:pPr algn="just"/>
            <a:r>
              <a:rPr lang="en-IN" b="1" dirty="0">
                <a:solidFill>
                  <a:srgbClr val="0033CC"/>
                </a:solidFill>
              </a:rPr>
              <a:t>4. Physiological / demographic factors (not disease, but shift the baseline relationship).</a:t>
            </a:r>
          </a:p>
          <a:p>
            <a:pPr lvl="0" algn="just"/>
            <a:r>
              <a:rPr lang="en-IN" dirty="0">
                <a:solidFill>
                  <a:srgbClr val="0033CC"/>
                </a:solidFill>
              </a:rPr>
              <a:t>Age (older age is repeatedly one of the strongest independent predictors of HbA1c–glucose mismatch)</a:t>
            </a:r>
          </a:p>
          <a:p>
            <a:pPr lvl="0" algn="just"/>
            <a:r>
              <a:rPr lang="en-IN" dirty="0">
                <a:solidFill>
                  <a:srgbClr val="0033CC"/>
                </a:solidFill>
              </a:rPr>
              <a:t>Pregnancy (altered RBC turnover + plasma volume changes), Obesity / high BMI, Genetic variation in individual glycation rate</a:t>
            </a:r>
          </a:p>
          <a:p>
            <a:pPr algn="just"/>
            <a:endParaRPr lang="en-IN" b="1" dirty="0">
              <a:solidFill>
                <a:srgbClr val="0033CC"/>
              </a:solidFill>
            </a:endParaRPr>
          </a:p>
          <a:p>
            <a:pPr algn="just"/>
            <a:r>
              <a:rPr lang="en-IN" b="1" dirty="0">
                <a:solidFill>
                  <a:srgbClr val="0033CC"/>
                </a:solidFill>
              </a:rPr>
              <a:t>5. Drug-induced</a:t>
            </a:r>
          </a:p>
          <a:p>
            <a:pPr algn="just"/>
            <a:r>
              <a:rPr lang="en-IN" dirty="0">
                <a:solidFill>
                  <a:srgbClr val="0033CC"/>
                </a:solidFill>
              </a:rPr>
              <a:t>Dapsone, ribavirin, and other haemolysis-inducing drugs, Antiretroviral therapy in HIV patients</a:t>
            </a:r>
          </a:p>
          <a:p>
            <a:pPr algn="just"/>
            <a:r>
              <a:rPr lang="en-IN" dirty="0">
                <a:solidFill>
                  <a:srgbClr val="0033CC"/>
                </a:solidFill>
              </a:rPr>
              <a:t>Erythropoietin-stimulating agents</a:t>
            </a:r>
          </a:p>
          <a:p>
            <a:pPr algn="just"/>
            <a:endParaRPr lang="en-IN" b="1" dirty="0">
              <a:solidFill>
                <a:srgbClr val="0033CC"/>
              </a:solidFill>
            </a:endParaRPr>
          </a:p>
          <a:p>
            <a:pPr algn="just"/>
            <a:endParaRPr lang="en-IN" dirty="0">
              <a:solidFill>
                <a:srgbClr val="0033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0980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371485" y="3352800"/>
            <a:ext cx="250658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4000" dirty="0">
                <a:solidFill>
                  <a:srgbClr val="FF0000"/>
                </a:solidFill>
                <a:latin typeface="Trebuchet MS" pitchFamily="34" charset="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apstone Project - Review 3 - Template.pptx" id="{77E64785-C4AC-D447-9F20-AA3556BA4DEA}" vid="{211B08FD-A304-1146-A3C3-5229E601B30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Capstone Project - Review 3 - Template (1)</Template>
  <TotalTime>965</TotalTime>
  <Words>1628</Words>
  <Application>Microsoft Office PowerPoint</Application>
  <PresentationFormat>Widescreen</PresentationFormat>
  <Paragraphs>183</Paragraphs>
  <Slides>11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Trebuchet MS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KTwo Technology Solutions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SHREYASH M YADWAD</dc:creator>
  <cp:lastModifiedBy>EC S&amp;H 2N 2024 SHIVANAGOUDA I PATIL</cp:lastModifiedBy>
  <cp:revision>140</cp:revision>
  <dcterms:created xsi:type="dcterms:W3CDTF">2020-11-22T08:14:37Z</dcterms:created>
  <dcterms:modified xsi:type="dcterms:W3CDTF">2026-10-04T18:18:07Z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</Properties>
</file>