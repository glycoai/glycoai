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6"/>
  </p:notesMasterIdLst>
  <p:handoutMasterIdLst>
    <p:handoutMasterId r:id="rId17"/>
  </p:handoutMasterIdLst>
  <p:sldIdLst>
    <p:sldId id="538" r:id="rId2"/>
    <p:sldId id="535" r:id="rId3"/>
    <p:sldId id="569" r:id="rId4"/>
    <p:sldId id="573" r:id="rId5"/>
    <p:sldId id="578" r:id="rId6"/>
    <p:sldId id="575" r:id="rId7"/>
    <p:sldId id="574" r:id="rId8"/>
    <p:sldId id="577" r:id="rId9"/>
    <p:sldId id="568" r:id="rId10"/>
    <p:sldId id="571" r:id="rId11"/>
    <p:sldId id="570" r:id="rId12"/>
    <p:sldId id="572" r:id="rId13"/>
    <p:sldId id="576" r:id="rId14"/>
    <p:sldId id="549" r:id="rId15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00FF"/>
    <a:srgbClr val="5476DD"/>
    <a:srgbClr val="E8F0FF"/>
    <a:srgbClr val="FFFFFF"/>
    <a:srgbClr val="3A53A0"/>
    <a:srgbClr val="3860D7"/>
    <a:srgbClr val="FF33CC"/>
    <a:srgbClr val="FF0066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37" autoAdjust="0"/>
    <p:restoredTop sz="95033" autoAdjust="0"/>
  </p:normalViewPr>
  <p:slideViewPr>
    <p:cSldViewPr>
      <p:cViewPr varScale="1">
        <p:scale>
          <a:sx n="80" d="100"/>
          <a:sy n="80" d="100"/>
        </p:scale>
        <p:origin x="13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2B9E9-ADFC-DA0A-79D1-58FB874B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8ED24-73F0-4E0D-572F-BBB29428F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88CEB-6411-3C5C-D2E1-9CD5D885F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515E1-284B-EDB2-6F99-DA03DCC9C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66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PESSAT - All India Online Entrance Exam for Admission to PES University">
            <a:extLst>
              <a:ext uri="{FF2B5EF4-FFF2-40B4-BE49-F238E27FC236}">
                <a16:creationId xmlns:a16="http://schemas.microsoft.com/office/drawing/2014/main" id="{C91282D4-EDA2-9EB7-4718-C22D3D176D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365125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hysionet.org/content/mimiciv/" TargetMode="External"/><Relationship Id="rId2" Type="http://schemas.openxmlformats.org/officeDocument/2006/relationships/hyperlink" Target="https://wwwn.cdc.gov/nchs/nhanes/Default.aspx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ukbiobank.ac.uk/enable-your-research/apply-for-acces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3389/fmed.2022.925344" TargetMode="External"/><Relationship Id="rId3" Type="http://schemas.openxmlformats.org/officeDocument/2006/relationships/hyperlink" Target="https://journals.plos.org/digitalhealth/article?id=10.1371/journal.pdig.0001229" TargetMode="External"/><Relationship Id="rId7" Type="http://schemas.openxmlformats.org/officeDocument/2006/relationships/hyperlink" Target="https://www.frontiersin.org/journals/endocrinology/articles/10.3389/fendo.2026.1898713/full" TargetMode="External"/><Relationship Id="rId12" Type="http://schemas.openxmlformats.org/officeDocument/2006/relationships/hyperlink" Target="https://www.ncbi.nlm.nih.gov/pmc/articles/PMC9273928/" TargetMode="External"/><Relationship Id="rId2" Type="http://schemas.openxmlformats.org/officeDocument/2006/relationships/hyperlink" Target="https://doi.org/10.1371/journal.pdig.0001229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3389/fendo.2026.1898713" TargetMode="External"/><Relationship Id="rId11" Type="http://schemas.openxmlformats.org/officeDocument/2006/relationships/hyperlink" Target="https://link.springer.com/article/10.1186/s12902-023-01280-y" TargetMode="External"/><Relationship Id="rId5" Type="http://schemas.openxmlformats.org/officeDocument/2006/relationships/hyperlink" Target="https://onlinelibrary.wiley.com/doi/full/10.1111/dme.70023" TargetMode="External"/><Relationship Id="rId10" Type="http://schemas.openxmlformats.org/officeDocument/2006/relationships/hyperlink" Target="https://doi.org/10.1186/s12902-023-01280-y" TargetMode="External"/><Relationship Id="rId4" Type="http://schemas.openxmlformats.org/officeDocument/2006/relationships/hyperlink" Target="https://doi.org/10.1111/dme.70023" TargetMode="External"/><Relationship Id="rId9" Type="http://schemas.openxmlformats.org/officeDocument/2006/relationships/hyperlink" Target="https://pmc.ncbi.nlm.nih.gov/articles/PMC9273928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">
            <a:extLst>
              <a:ext uri="{FF2B5EF4-FFF2-40B4-BE49-F238E27FC236}">
                <a16:creationId xmlns:a16="http://schemas.microsoft.com/office/drawing/2014/main" id="{46AB2E6C-B283-6A93-17DE-D0C62E884513}"/>
              </a:ext>
            </a:extLst>
          </p:cNvPr>
          <p:cNvSpPr txBox="1"/>
          <p:nvPr/>
        </p:nvSpPr>
        <p:spPr>
          <a:xfrm>
            <a:off x="914400" y="1000000"/>
            <a:ext cx="9500000" cy="5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rebuchet MS"/>
                <a:ea typeface="Trebuchet MS"/>
                <a:cs typeface="Trebuchet MS"/>
              </a:rPr>
              <a:t>UE24CS320A – Capstone Project Approval</a:t>
            </a:r>
          </a:p>
        </p:txBody>
      </p:sp>
      <p:sp>
        <p:nvSpPr>
          <p:cNvPr id="34" name="Project Title label">
            <a:extLst>
              <a:ext uri="{FF2B5EF4-FFF2-40B4-BE49-F238E27FC236}">
                <a16:creationId xmlns:a16="http://schemas.microsoft.com/office/drawing/2014/main" id="{C3DA1A2A-95E8-B2ED-E1EC-F06649EDDE48}"/>
              </a:ext>
            </a:extLst>
          </p:cNvPr>
          <p:cNvSpPr txBox="1"/>
          <p:nvPr/>
        </p:nvSpPr>
        <p:spPr>
          <a:xfrm>
            <a:off x="914400" y="185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0033CC"/>
                </a:solidFill>
                <a:latin typeface="Trebuchet MS"/>
                <a:ea typeface="Trebuchet MS"/>
                <a:cs typeface="Trebuchet MS"/>
              </a:rPr>
              <a:t>Project Title</a:t>
            </a:r>
          </a:p>
        </p:txBody>
      </p:sp>
      <p:sp>
        <p:nvSpPr>
          <p:cNvPr id="36" name="Project Title colon">
            <a:extLst>
              <a:ext uri="{FF2B5EF4-FFF2-40B4-BE49-F238E27FC236}">
                <a16:creationId xmlns:a16="http://schemas.microsoft.com/office/drawing/2014/main" id="{A8B11B54-EE69-0694-3A4A-5B88090749A1}"/>
              </a:ext>
            </a:extLst>
          </p:cNvPr>
          <p:cNvSpPr txBox="1"/>
          <p:nvPr/>
        </p:nvSpPr>
        <p:spPr>
          <a:xfrm>
            <a:off x="2950000" y="185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0033CC"/>
                </a:solidFill>
                <a:latin typeface="Trebuchet MS"/>
                <a:ea typeface="Trebuchet MS"/>
                <a:cs typeface="Trebuchet MS"/>
              </a:rPr>
              <a:t>:</a:t>
            </a:r>
          </a:p>
        </p:txBody>
      </p:sp>
      <p:sp>
        <p:nvSpPr>
          <p:cNvPr id="38" name="Project Title value">
            <a:extLst>
              <a:ext uri="{FF2B5EF4-FFF2-40B4-BE49-F238E27FC236}">
                <a16:creationId xmlns:a16="http://schemas.microsoft.com/office/drawing/2014/main" id="{5B977232-F302-13F7-D764-7BBC175B6438}"/>
              </a:ext>
            </a:extLst>
          </p:cNvPr>
          <p:cNvSpPr txBox="1"/>
          <p:nvPr/>
        </p:nvSpPr>
        <p:spPr>
          <a:xfrm>
            <a:off x="3300000" y="1850000"/>
            <a:ext cx="7400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0033CC"/>
                </a:solidFill>
                <a:latin typeface="Trebuchet MS"/>
                <a:ea typeface="Trebuchet MS"/>
                <a:cs typeface="Trebuchet MS"/>
              </a:rPr>
              <a:t>A1Cognito</a:t>
            </a:r>
            <a:r>
              <a:rPr lang="en-US" sz="2000" b="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</a:rPr>
              <a:t> – Detection of HbA1c-Glycemic Discordance Using Machine Learning Approaches from Routine Clinical and Haematological Parameters.</a:t>
            </a:r>
          </a:p>
        </p:txBody>
      </p:sp>
      <p:sp>
        <p:nvSpPr>
          <p:cNvPr id="40" name="Project ID label">
            <a:extLst>
              <a:ext uri="{FF2B5EF4-FFF2-40B4-BE49-F238E27FC236}">
                <a16:creationId xmlns:a16="http://schemas.microsoft.com/office/drawing/2014/main" id="{079D1017-6064-8BA5-DB13-24327449B67D}"/>
              </a:ext>
            </a:extLst>
          </p:cNvPr>
          <p:cNvSpPr txBox="1"/>
          <p:nvPr/>
        </p:nvSpPr>
        <p:spPr>
          <a:xfrm>
            <a:off x="914400" y="300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0033CC"/>
                </a:solidFill>
                <a:latin typeface="Trebuchet MS"/>
                <a:ea typeface="Trebuchet MS"/>
                <a:cs typeface="Trebuchet MS"/>
              </a:rPr>
              <a:t>Project ID</a:t>
            </a:r>
          </a:p>
        </p:txBody>
      </p:sp>
      <p:sp>
        <p:nvSpPr>
          <p:cNvPr id="42" name="Project ID colon">
            <a:extLst>
              <a:ext uri="{FF2B5EF4-FFF2-40B4-BE49-F238E27FC236}">
                <a16:creationId xmlns:a16="http://schemas.microsoft.com/office/drawing/2014/main" id="{A85A6B55-5F34-60C3-ABAB-BC0D5F909E87}"/>
              </a:ext>
            </a:extLst>
          </p:cNvPr>
          <p:cNvSpPr txBox="1"/>
          <p:nvPr/>
        </p:nvSpPr>
        <p:spPr>
          <a:xfrm>
            <a:off x="2950000" y="300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0033CC"/>
                </a:solidFill>
                <a:latin typeface="Trebuchet MS"/>
                <a:ea typeface="Trebuchet MS"/>
                <a:cs typeface="Trebuchet MS"/>
              </a:rPr>
              <a:t>:</a:t>
            </a:r>
          </a:p>
        </p:txBody>
      </p:sp>
      <p:sp>
        <p:nvSpPr>
          <p:cNvPr id="44" name="Project ID value">
            <a:extLst>
              <a:ext uri="{FF2B5EF4-FFF2-40B4-BE49-F238E27FC236}">
                <a16:creationId xmlns:a16="http://schemas.microsoft.com/office/drawing/2014/main" id="{DA580C08-37FC-183D-09FD-9B142B53B655}"/>
              </a:ext>
            </a:extLst>
          </p:cNvPr>
          <p:cNvSpPr txBox="1"/>
          <p:nvPr/>
        </p:nvSpPr>
        <p:spPr>
          <a:xfrm>
            <a:off x="3300000" y="3000000"/>
            <a:ext cx="740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</a:rPr>
              <a:t>20</a:t>
            </a:r>
          </a:p>
        </p:txBody>
      </p:sp>
      <p:sp>
        <p:nvSpPr>
          <p:cNvPr id="46" name="Project Guide label">
            <a:extLst>
              <a:ext uri="{FF2B5EF4-FFF2-40B4-BE49-F238E27FC236}">
                <a16:creationId xmlns:a16="http://schemas.microsoft.com/office/drawing/2014/main" id="{A24CA63E-F766-8275-51AF-737C08DB3129}"/>
              </a:ext>
            </a:extLst>
          </p:cNvPr>
          <p:cNvSpPr txBox="1"/>
          <p:nvPr/>
        </p:nvSpPr>
        <p:spPr>
          <a:xfrm>
            <a:off x="914400" y="350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0033CC"/>
                </a:solidFill>
                <a:latin typeface="Trebuchet MS"/>
                <a:ea typeface="Trebuchet MS"/>
                <a:cs typeface="Trebuchet MS"/>
              </a:rPr>
              <a:t>Project Guide</a:t>
            </a:r>
          </a:p>
        </p:txBody>
      </p:sp>
      <p:sp>
        <p:nvSpPr>
          <p:cNvPr id="48" name="Project Guide colon">
            <a:extLst>
              <a:ext uri="{FF2B5EF4-FFF2-40B4-BE49-F238E27FC236}">
                <a16:creationId xmlns:a16="http://schemas.microsoft.com/office/drawing/2014/main" id="{8239F16C-797A-B3CD-44F0-959BCC8D3C61}"/>
              </a:ext>
            </a:extLst>
          </p:cNvPr>
          <p:cNvSpPr txBox="1"/>
          <p:nvPr/>
        </p:nvSpPr>
        <p:spPr>
          <a:xfrm>
            <a:off x="2950000" y="350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0033CC"/>
                </a:solidFill>
                <a:latin typeface="Trebuchet MS"/>
                <a:ea typeface="Trebuchet MS"/>
                <a:cs typeface="Trebuchet MS"/>
              </a:rPr>
              <a:t>:</a:t>
            </a:r>
          </a:p>
        </p:txBody>
      </p:sp>
      <p:sp>
        <p:nvSpPr>
          <p:cNvPr id="50" name="Project Guide value">
            <a:extLst>
              <a:ext uri="{FF2B5EF4-FFF2-40B4-BE49-F238E27FC236}">
                <a16:creationId xmlns:a16="http://schemas.microsoft.com/office/drawing/2014/main" id="{A00150C1-83FF-ABAB-A4DF-DCEAFB4CEF88}"/>
              </a:ext>
            </a:extLst>
          </p:cNvPr>
          <p:cNvSpPr txBox="1"/>
          <p:nvPr/>
        </p:nvSpPr>
        <p:spPr>
          <a:xfrm>
            <a:off x="3300000" y="3500000"/>
            <a:ext cx="740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</a:rPr>
              <a:t>Dr Pooja Agarwal</a:t>
            </a:r>
          </a:p>
        </p:txBody>
      </p:sp>
      <p:sp>
        <p:nvSpPr>
          <p:cNvPr id="52" name="Project Team label">
            <a:extLst>
              <a:ext uri="{FF2B5EF4-FFF2-40B4-BE49-F238E27FC236}">
                <a16:creationId xmlns:a16="http://schemas.microsoft.com/office/drawing/2014/main" id="{3A930DD7-E192-9156-E783-4658469CC5BB}"/>
              </a:ext>
            </a:extLst>
          </p:cNvPr>
          <p:cNvSpPr txBox="1"/>
          <p:nvPr/>
        </p:nvSpPr>
        <p:spPr>
          <a:xfrm>
            <a:off x="914400" y="405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0033CC"/>
                </a:solidFill>
                <a:latin typeface="Trebuchet MS"/>
                <a:ea typeface="Trebuchet MS"/>
                <a:cs typeface="Trebuchet MS"/>
              </a:rPr>
              <a:t>Project Team</a:t>
            </a:r>
          </a:p>
        </p:txBody>
      </p:sp>
      <p:sp>
        <p:nvSpPr>
          <p:cNvPr id="54" name="Project Team colon">
            <a:extLst>
              <a:ext uri="{FF2B5EF4-FFF2-40B4-BE49-F238E27FC236}">
                <a16:creationId xmlns:a16="http://schemas.microsoft.com/office/drawing/2014/main" id="{463296D3-1DB0-3BD7-305C-A19AAFEB1914}"/>
              </a:ext>
            </a:extLst>
          </p:cNvPr>
          <p:cNvSpPr txBox="1"/>
          <p:nvPr/>
        </p:nvSpPr>
        <p:spPr>
          <a:xfrm>
            <a:off x="2950000" y="405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0033CC"/>
                </a:solidFill>
                <a:latin typeface="Trebuchet MS"/>
                <a:ea typeface="Trebuchet MS"/>
                <a:cs typeface="Trebuchet MS"/>
              </a:rPr>
              <a:t>:</a:t>
            </a:r>
          </a:p>
        </p:txBody>
      </p:sp>
      <p:graphicFrame>
        <p:nvGraphicFramePr>
          <p:cNvPr id="56" name="Team table">
            <a:extLst>
              <a:ext uri="{FF2B5EF4-FFF2-40B4-BE49-F238E27FC236}">
                <a16:creationId xmlns:a16="http://schemas.microsoft.com/office/drawing/2014/main" id="{6D42AE32-847B-0B01-919D-5E5CEC769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029327"/>
              </p:ext>
            </p:extLst>
          </p:nvPr>
        </p:nvGraphicFramePr>
        <p:xfrm>
          <a:off x="3300000" y="4000000"/>
          <a:ext cx="6910800" cy="1943600"/>
        </p:xfrm>
        <a:graphic>
          <a:graphicData uri="http://schemas.openxmlformats.org/drawingml/2006/table">
            <a:tbl>
              <a:tblPr/>
              <a:tblGrid>
                <a:gridCol w="3664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5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900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0033CC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SHIVANAND</a:t>
                      </a:r>
                    </a:p>
                  </a:txBody>
                  <a:tcPr marL="1371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0033CC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PES2UG24CS473</a:t>
                      </a:r>
                    </a:p>
                  </a:txBody>
                  <a:tcPr marL="1371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DCE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900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0033CC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SHREYASH M YADWAD</a:t>
                      </a:r>
                    </a:p>
                  </a:txBody>
                  <a:tcPr marL="1371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0033CC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PES2UG24CS493</a:t>
                      </a:r>
                    </a:p>
                  </a:txBody>
                  <a:tcPr marL="1371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900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0033CC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SHIVANAGOUDA</a:t>
                      </a:r>
                    </a:p>
                  </a:txBody>
                  <a:tcPr marL="1371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0033CC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PES2UG24CS471</a:t>
                      </a:r>
                    </a:p>
                  </a:txBody>
                  <a:tcPr marL="1371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DCE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900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0033CC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SAMARTHA M S</a:t>
                      </a:r>
                    </a:p>
                  </a:txBody>
                  <a:tcPr marL="1371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0033CC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PES2UG24CS435</a:t>
                      </a:r>
                    </a:p>
                  </a:txBody>
                  <a:tcPr marL="1371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066800" y="1752600"/>
            <a:ext cx="8534400" cy="47244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Problem Statement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Scope and Feasibility study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Applications/Use cases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Background work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Expected Deliverables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Capstone (Phase-I Phase-II, Phase-III) Project Timeline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Any other information</a:t>
            </a: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16898" y="1371600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38200" y="1515496"/>
            <a:ext cx="10287000" cy="5266303"/>
          </a:xfrm>
          <a:prstGeom prst="rect">
            <a:avLst/>
          </a:prstGeom>
        </p:spPr>
        <p:txBody>
          <a:bodyPr/>
          <a:lstStyle/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u="sng" dirty="0">
                <a:solidFill>
                  <a:srgbClr val="0033CC"/>
                </a:solidFill>
                <a:latin typeface="Trebuchet MS"/>
                <a:sym typeface="Trebuchet MS"/>
              </a:rPr>
              <a:t>Title:</a:t>
            </a:r>
          </a:p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33CC"/>
                </a:solidFill>
                <a:latin typeface="Trebuchet MS"/>
                <a:sym typeface="Trebuchet MS"/>
              </a:rPr>
              <a:t>A1Cognito</a:t>
            </a:r>
            <a:r>
              <a:rPr lang="en-US" sz="2000" dirty="0">
                <a:solidFill>
                  <a:srgbClr val="0033CC"/>
                </a:solidFill>
                <a:latin typeface="Trebuchet MS"/>
                <a:sym typeface="Trebuchet MS"/>
              </a:rPr>
              <a:t>: Detection of HbA1c-Glycemic Discordance Using Machine Learning Approaches from Routine Clinical and </a:t>
            </a:r>
            <a:r>
              <a:rPr lang="en-US" sz="2000" dirty="0" err="1">
                <a:solidFill>
                  <a:srgbClr val="0033CC"/>
                </a:solidFill>
                <a:latin typeface="Trebuchet MS"/>
                <a:sym typeface="Trebuchet MS"/>
              </a:rPr>
              <a:t>Haematological</a:t>
            </a:r>
            <a:r>
              <a:rPr lang="en-US" sz="2000" dirty="0">
                <a:solidFill>
                  <a:srgbClr val="0033CC"/>
                </a:solidFill>
                <a:latin typeface="Trebuchet MS"/>
                <a:sym typeface="Trebuchet MS"/>
              </a:rPr>
              <a:t> Parameters.</a:t>
            </a:r>
          </a:p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0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u="sng" dirty="0">
                <a:solidFill>
                  <a:srgbClr val="0033CC"/>
                </a:solidFill>
                <a:latin typeface="Trebuchet MS"/>
                <a:sym typeface="Trebuchet MS"/>
              </a:rPr>
              <a:t>Problem Statement: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33CC"/>
                </a:solidFill>
              </a:rPr>
              <a:t>HbA1c estimates average blood glucose through erythrocytes (RBCs), assuming a typical ~3-month RBC lifespan.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0033CC"/>
                </a:solidFill>
              </a:rPr>
              <a:t>Anaemia, iron deficiency, kidney disease, pregnancy, ageing, obesity and blood disorders </a:t>
            </a:r>
            <a:r>
              <a:rPr lang="en-IN" sz="2000" dirty="0">
                <a:solidFill>
                  <a:srgbClr val="0033CC"/>
                </a:solidFill>
              </a:rPr>
              <a:t>can alter RBC behaviour and affect HbA1c accuracy.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33CC"/>
                </a:solidFill>
              </a:rPr>
              <a:t>HbA1c may therefore overestimate or underestimate actual </a:t>
            </a:r>
            <a:r>
              <a:rPr lang="en-IN" sz="2000" dirty="0" err="1">
                <a:solidFill>
                  <a:srgbClr val="0033CC"/>
                </a:solidFill>
              </a:rPr>
              <a:t>glycemic</a:t>
            </a:r>
            <a:r>
              <a:rPr lang="en-IN" sz="2000" dirty="0">
                <a:solidFill>
                  <a:srgbClr val="0033CC"/>
                </a:solidFill>
              </a:rPr>
              <a:t> control, despite a reported laboratory value.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33CC"/>
                </a:solidFill>
              </a:rPr>
              <a:t>This mismatch between HbA1c-based and glucose-based classification is called </a:t>
            </a:r>
            <a:r>
              <a:rPr lang="en-IN" sz="2000" b="1" dirty="0">
                <a:solidFill>
                  <a:srgbClr val="0033CC"/>
                </a:solidFill>
              </a:rPr>
              <a:t>HbA1c–</a:t>
            </a:r>
            <a:r>
              <a:rPr lang="en-IN" sz="2000" b="1" dirty="0" err="1">
                <a:solidFill>
                  <a:srgbClr val="0033CC"/>
                </a:solidFill>
              </a:rPr>
              <a:t>glycemic</a:t>
            </a:r>
            <a:r>
              <a:rPr lang="en-IN" sz="2000" b="1" dirty="0">
                <a:solidFill>
                  <a:srgbClr val="0033CC"/>
                </a:solidFill>
              </a:rPr>
              <a:t> discordance.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33CC"/>
                </a:solidFill>
              </a:rPr>
              <a:t>Combine glucose, HbA1c and haematological parameters (Hb, RBC, MCV, MCH ,age , BMI , MCHC, RDW and ferritin) → </a:t>
            </a:r>
            <a:r>
              <a:rPr lang="en-IN" sz="2000" b="1" dirty="0">
                <a:solidFill>
                  <a:srgbClr val="0033CC"/>
                </a:solidFill>
              </a:rPr>
              <a:t>ML-based prediction of discordance + Discordance Risk Score.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59898" y="839064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dirty="0">
                <a:solidFill>
                  <a:srgbClr val="FF0000"/>
                </a:solidFill>
                <a:latin typeface="Trebuchet MS" pitchFamily="34" charset="0"/>
              </a:rPr>
              <a:t>Problem Statement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BACE1-7374-BB65-640F-D6DB2AF3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E1DE256-78BF-9303-91B3-73AAF4694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166077"/>
            <a:ext cx="7620000" cy="45719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7C9D3B-1505-FD7D-AE2A-86642998286B}"/>
              </a:ext>
            </a:extLst>
          </p:cNvPr>
          <p:cNvSpPr txBox="1">
            <a:spLocks/>
          </p:cNvSpPr>
          <p:nvPr/>
        </p:nvSpPr>
        <p:spPr>
          <a:xfrm>
            <a:off x="1219200" y="1828800"/>
            <a:ext cx="8077200" cy="4211931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>
            <a:extLst>
              <a:ext uri="{FF2B5EF4-FFF2-40B4-BE49-F238E27FC236}">
                <a16:creationId xmlns:a16="http://schemas.microsoft.com/office/drawing/2014/main" id="{850EEB4A-C33A-37D8-561C-B5D841D91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750131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dirty="0">
                <a:solidFill>
                  <a:srgbClr val="FF0000"/>
                </a:solidFill>
                <a:latin typeface="Trebuchet MS" pitchFamily="34" charset="0"/>
              </a:rPr>
              <a:t>Background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DCA410-79D9-14E5-2149-DA3F659D04CF}"/>
              </a:ext>
            </a:extLst>
          </p:cNvPr>
          <p:cNvSpPr/>
          <p:nvPr/>
        </p:nvSpPr>
        <p:spPr>
          <a:xfrm>
            <a:off x="785326" y="1469088"/>
            <a:ext cx="5158275" cy="2295192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IN" sz="2000" b="1" dirty="0">
                <a:solidFill>
                  <a:srgbClr val="0033CC"/>
                </a:solidFill>
              </a:rPr>
              <a:t>1. Manual discordance detection.</a:t>
            </a:r>
            <a:br>
              <a:rPr lang="en-IN" sz="2000" dirty="0">
                <a:solidFill>
                  <a:srgbClr val="0033CC"/>
                </a:solidFill>
              </a:rPr>
            </a:br>
            <a:r>
              <a:rPr lang="en-IN" sz="2000" dirty="0">
                <a:solidFill>
                  <a:srgbClr val="0033CC"/>
                </a:solidFill>
              </a:rPr>
              <a:t>A clinician must remember to suspect discordance and manually cross-check CBC values against a mental checklist — today it's entirely manual.</a:t>
            </a:r>
            <a:endParaRPr sz="2000" b="0" dirty="0">
              <a:solidFill>
                <a:srgbClr val="0033CC"/>
              </a:solidFill>
              <a:latin typeface="Trebuchet M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7A3CBC-1343-383B-1F79-0A74A9F41D4F}"/>
              </a:ext>
            </a:extLst>
          </p:cNvPr>
          <p:cNvSpPr/>
          <p:nvPr/>
        </p:nvSpPr>
        <p:spPr>
          <a:xfrm>
            <a:off x="6248400" y="1469088"/>
            <a:ext cx="5310674" cy="2295193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IN" b="1" dirty="0">
                <a:solidFill>
                  <a:srgbClr val="0033CC"/>
                </a:solidFill>
              </a:rPr>
              <a:t>2. CGM-Dependent Tools Only + Flags Mismatch</a:t>
            </a:r>
            <a:br>
              <a:rPr lang="en-IN" dirty="0">
                <a:solidFill>
                  <a:srgbClr val="0033CC"/>
                </a:solidFill>
              </a:rPr>
            </a:br>
            <a:r>
              <a:rPr lang="en-IN" dirty="0">
                <a:solidFill>
                  <a:srgbClr val="0033CC"/>
                </a:solidFill>
              </a:rPr>
              <a:t>GMI comparison only works for the CGM-wearing minority — unusable where CGM penetration is low.</a:t>
            </a:r>
            <a:br>
              <a:rPr lang="en-IN" dirty="0">
                <a:solidFill>
                  <a:srgbClr val="0033CC"/>
                </a:solidFill>
              </a:rPr>
            </a:br>
            <a:r>
              <a:rPr lang="en-IN" dirty="0">
                <a:solidFill>
                  <a:srgbClr val="0033CC"/>
                </a:solidFill>
              </a:rPr>
              <a:t>CGM tools show GMI and lab HbA1c disagree, not why; checklists list possible causes but leave the diagnostic work to the doctor.</a:t>
            </a:r>
            <a:endParaRPr b="0" dirty="0">
              <a:solidFill>
                <a:srgbClr val="0033CC"/>
              </a:solidFill>
              <a:latin typeface="Trebuchet M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3FB009-639B-AD06-9B9E-58C151379F09}"/>
              </a:ext>
            </a:extLst>
          </p:cNvPr>
          <p:cNvSpPr/>
          <p:nvPr/>
        </p:nvSpPr>
        <p:spPr>
          <a:xfrm>
            <a:off x="785326" y="3881534"/>
            <a:ext cx="5158275" cy="24384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IN" sz="2000" b="1" dirty="0">
                <a:solidFill>
                  <a:srgbClr val="0033CC"/>
                </a:solidFill>
              </a:rPr>
              <a:t>3. Discovery Is Retrospective</a:t>
            </a:r>
            <a:br>
              <a:rPr lang="en-IN" sz="2000" dirty="0">
                <a:solidFill>
                  <a:srgbClr val="0033CC"/>
                </a:solidFill>
              </a:rPr>
            </a:br>
            <a:r>
              <a:rPr lang="en-IN" sz="2000" dirty="0">
                <a:solidFill>
                  <a:srgbClr val="0033CC"/>
                </a:solidFill>
              </a:rPr>
              <a:t>Discordance usually surfaces only after a patient is treated on a wrong number and something doesn't add up — symptoms mismatch, treatment isn't working.</a:t>
            </a:r>
            <a:endParaRPr sz="2000" b="0" dirty="0">
              <a:solidFill>
                <a:srgbClr val="0033CC"/>
              </a:solidFill>
              <a:latin typeface="Trebuchet M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05B2F3-71A6-7E8E-3561-ED0EE3671B53}"/>
              </a:ext>
            </a:extLst>
          </p:cNvPr>
          <p:cNvSpPr/>
          <p:nvPr/>
        </p:nvSpPr>
        <p:spPr>
          <a:xfrm>
            <a:off x="6248399" y="3886200"/>
            <a:ext cx="5310674" cy="2438399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2000" b="1" dirty="0">
                <a:solidFill>
                  <a:srgbClr val="0033CC"/>
                </a:solidFill>
                <a:latin typeface="Trebuchet MS"/>
              </a:rPr>
              <a:t>4.</a:t>
            </a:r>
            <a:r>
              <a:rPr lang="en-IN" sz="2000" b="1" dirty="0">
                <a:solidFill>
                  <a:srgbClr val="0033CC"/>
                </a:solidFill>
              </a:rPr>
              <a:t> Personalized Research Models Need Weeks of CGM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IN" dirty="0">
                <a:solidFill>
                  <a:srgbClr val="0033CC"/>
                </a:solidFill>
              </a:rPr>
              <a:t>Academic personalized models (e.g., pA1C) use an individual’s CGM history to estimate their personal.</a:t>
            </a:r>
            <a:br>
              <a:rPr lang="en-IN" dirty="0">
                <a:solidFill>
                  <a:srgbClr val="0033CC"/>
                </a:solidFill>
              </a:rPr>
            </a:br>
            <a:r>
              <a:rPr lang="en-IN" dirty="0">
                <a:solidFill>
                  <a:srgbClr val="0033CC"/>
                </a:solidFill>
              </a:rPr>
              <a:t>pA1C uses a patient’s historical CGM and HbA1c data to estimate their personalized HbA1c, but requires prior longitudinal data, limiting its use for first-time patients.</a:t>
            </a:r>
            <a:endParaRPr b="1" dirty="0">
              <a:solidFill>
                <a:srgbClr val="0033CC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715036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2051F9-6031-D5DC-2810-2F4ECE656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688447"/>
              </p:ext>
            </p:extLst>
          </p:nvPr>
        </p:nvGraphicFramePr>
        <p:xfrm>
          <a:off x="0" y="71935"/>
          <a:ext cx="12192000" cy="67098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95601">
                  <a:extLst>
                    <a:ext uri="{9D8B030D-6E8A-4147-A177-3AD203B41FA5}">
                      <a16:colId xmlns:a16="http://schemas.microsoft.com/office/drawing/2014/main" val="3183572844"/>
                    </a:ext>
                  </a:extLst>
                </a:gridCol>
                <a:gridCol w="2179803">
                  <a:extLst>
                    <a:ext uri="{9D8B030D-6E8A-4147-A177-3AD203B41FA5}">
                      <a16:colId xmlns:a16="http://schemas.microsoft.com/office/drawing/2014/main" val="808668290"/>
                    </a:ext>
                  </a:extLst>
                </a:gridCol>
                <a:gridCol w="2206696">
                  <a:extLst>
                    <a:ext uri="{9D8B030D-6E8A-4147-A177-3AD203B41FA5}">
                      <a16:colId xmlns:a16="http://schemas.microsoft.com/office/drawing/2014/main" val="3393285843"/>
                    </a:ext>
                  </a:extLst>
                </a:gridCol>
                <a:gridCol w="2471500">
                  <a:extLst>
                    <a:ext uri="{9D8B030D-6E8A-4147-A177-3AD203B41FA5}">
                      <a16:colId xmlns:a16="http://schemas.microsoft.com/office/drawing/2014/main" val="214723326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554070567"/>
                    </a:ext>
                  </a:extLst>
                </a:gridCol>
              </a:tblGrid>
              <a:tr h="872027"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360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2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2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2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2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2961180"/>
                  </a:ext>
                </a:extLst>
              </a:tr>
              <a:tr h="4799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Paper</a:t>
                      </a:r>
                      <a:endParaRPr lang="en-IN" sz="4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Objective / Approach</a:t>
                      </a:r>
                      <a:endParaRPr lang="en-IN" sz="3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Key Finding</a:t>
                      </a:r>
                      <a:endParaRPr lang="en-IN" sz="3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Limitation / Gap</a:t>
                      </a:r>
                      <a:endParaRPr lang="en-IN" sz="3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Relevance to A1Cognito</a:t>
                      </a:r>
                      <a:endParaRPr lang="en-IN" sz="3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3843113"/>
                  </a:ext>
                </a:extLst>
              </a:tr>
              <a:tr h="12024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1. Narrowing the A1c gap: Personalized modeling of HbA1c–CGM discordance in type 1 diabetes</a:t>
                      </a:r>
                      <a:endParaRPr lang="en-IN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Personalized model using repeated HbA1c, GMI and historical discordance.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≥0.5% discordance occurred in 31% of paired cases; personalization improved agreement.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Needs longitudinal CGM and repeated patient data.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Motivates routine-data screening without longitudinal CGM.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7164000"/>
                  </a:ext>
                </a:extLst>
              </a:tr>
              <a:tr h="8780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2. Managing discordance between HbA1c and glucose management indicator</a:t>
                      </a:r>
                      <a:endParaRPr lang="en-IN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Clinical checklist for causes and management of HbA1c–GMI discordance.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Highlights CGM accuracy, red-cell turnover and physiological factors.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Checklist-based; no automated ML risk score.</a:t>
                      </a:r>
                      <a:endParaRPr lang="en-IN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Supports multi-factor screening and explainable risk prediction.</a:t>
                      </a:r>
                      <a:endParaRPr lang="en-IN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9453198"/>
                  </a:ext>
                </a:extLst>
              </a:tr>
              <a:tr h="12808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3. Glycemic assessment when hemoglobin A1c is unreliable: a clinical-laboratory framework for kidney disease, anemia, and hemoglobinopathies</a:t>
                      </a:r>
                      <a:endParaRPr lang="en-IN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Framework for assessing HbA1c reliability and selecting corroborating measures.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Identifies CKD, anemia and hemoglobin variants as important causes of unreliable HbA1c.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Clinical framework, not an ML prediction system.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Supports routine-factor-based discordance screening as decision support.</a:t>
                      </a:r>
                      <a:endParaRPr lang="en-IN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755321"/>
                  </a:ext>
                </a:extLst>
              </a:tr>
              <a:tr h="11807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4. The Association Between METS-IR and Serum Ferritin Level in United States Female: A Cross-Sectional Study Based on NHANES</a:t>
                      </a:r>
                      <a:endParaRPr lang="en-IN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NHANES study of METS-IR and serum ferritin using regression and subgroup analysis.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Found a positive association between METS-IR and ferritin, varying across subgroups.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Not focused on HbA1c discordance; female-only study.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Supports use of NHANES and routine metabolic/ferritin variables.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9029289"/>
                  </a:ext>
                </a:extLst>
              </a:tr>
              <a:tr h="8157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5. The Effect of Different Types of Anemia on HbA1c Levels in Non-Diabetics</a:t>
                      </a:r>
                      <a:endParaRPr lang="en-IN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Examined how different anemia types affect HbA1c.</a:t>
                      </a:r>
                      <a:endParaRPr lang="en-IN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Shows anemia can alter HbA1c interpretation.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Selected anemia types; no ML screening system.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Supports using Hb, RDW and related </a:t>
                      </a:r>
                      <a:r>
                        <a:rPr lang="en-US" sz="1400" dirty="0" err="1">
                          <a:effectLst/>
                        </a:rPr>
                        <a:t>haematological</a:t>
                      </a:r>
                      <a:r>
                        <a:rPr lang="en-US" sz="1400" dirty="0">
                          <a:effectLst/>
                        </a:rPr>
                        <a:t> features.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94502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7369A76-4826-218A-E0E6-2392E30A8F53}"/>
              </a:ext>
            </a:extLst>
          </p:cNvPr>
          <p:cNvSpPr txBox="1"/>
          <p:nvPr/>
        </p:nvSpPr>
        <p:spPr>
          <a:xfrm>
            <a:off x="3048000" y="326923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/>
              <a:t>LITERATURE SURVEY</a:t>
            </a:r>
            <a:endParaRPr lang="en-IN" sz="2800" b="1" u="sng" dirty="0"/>
          </a:p>
        </p:txBody>
      </p:sp>
    </p:spTree>
    <p:extLst>
      <p:ext uri="{BB962C8B-B14F-4D97-AF65-F5344CB8AC3E}">
        <p14:creationId xmlns:p14="http://schemas.microsoft.com/office/powerpoint/2010/main" val="380465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92A7EC3-DE4B-2007-7DB3-6B3145E78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166077"/>
            <a:ext cx="7620000" cy="45719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Text Box 34">
            <a:extLst>
              <a:ext uri="{FF2B5EF4-FFF2-40B4-BE49-F238E27FC236}">
                <a16:creationId xmlns:a16="http://schemas.microsoft.com/office/drawing/2014/main" id="{4DD131E0-F7FB-F263-E63B-CF605BFC6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750131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dirty="0">
                <a:solidFill>
                  <a:srgbClr val="FF0000"/>
                </a:solidFill>
                <a:latin typeface="Trebuchet MS" pitchFamily="34" charset="0"/>
              </a:rPr>
              <a:t>Research Gaps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EFF55B-F9B8-EC32-4702-5B1F913B0476}"/>
              </a:ext>
            </a:extLst>
          </p:cNvPr>
          <p:cNvSpPr/>
          <p:nvPr/>
        </p:nvSpPr>
        <p:spPr>
          <a:xfrm>
            <a:off x="785326" y="1469088"/>
            <a:ext cx="5158275" cy="2417112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IN" sz="2000" b="1" dirty="0">
                <a:solidFill>
                  <a:srgbClr val="0033CC"/>
                </a:solidFill>
              </a:rPr>
              <a:t>1. Automatic Point-of-Care Screening</a:t>
            </a:r>
            <a:br>
              <a:rPr lang="en-IN" sz="2000" dirty="0">
                <a:solidFill>
                  <a:srgbClr val="0033CC"/>
                </a:solidFill>
              </a:rPr>
            </a:br>
            <a:r>
              <a:rPr lang="en-IN" sz="2000" dirty="0">
                <a:solidFill>
                  <a:srgbClr val="0033CC"/>
                </a:solidFill>
              </a:rPr>
              <a:t>A1Cognito automatically evaluates available clinical and haematological parameters when laboratory results are entered, reducing the need for clinicians to manually remember and cross-check potential causes of HbA1c–</a:t>
            </a:r>
            <a:r>
              <a:rPr lang="en-IN" sz="2000" dirty="0" err="1">
                <a:solidFill>
                  <a:srgbClr val="0033CC"/>
                </a:solidFill>
              </a:rPr>
              <a:t>glycemic</a:t>
            </a:r>
            <a:r>
              <a:rPr lang="en-IN" sz="2000" dirty="0">
                <a:solidFill>
                  <a:srgbClr val="0033CC"/>
                </a:solidFill>
              </a:rPr>
              <a:t> discordance.</a:t>
            </a:r>
            <a:endParaRPr sz="2000" b="0" dirty="0">
              <a:solidFill>
                <a:srgbClr val="0033CC"/>
              </a:solidFill>
              <a:latin typeface="Trebuchet M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1E026A-5A81-474C-7EF9-320BD7A2CD2F}"/>
              </a:ext>
            </a:extLst>
          </p:cNvPr>
          <p:cNvSpPr/>
          <p:nvPr/>
        </p:nvSpPr>
        <p:spPr>
          <a:xfrm>
            <a:off x="6096000" y="1469087"/>
            <a:ext cx="5158275" cy="2371391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IN" sz="2000" b="1" dirty="0">
                <a:solidFill>
                  <a:srgbClr val="0033CC"/>
                </a:solidFill>
              </a:rPr>
              <a:t>2. Routine-Data Based Assessment</a:t>
            </a:r>
            <a:br>
              <a:rPr lang="en-IN" sz="2000" dirty="0">
                <a:solidFill>
                  <a:srgbClr val="0033CC"/>
                </a:solidFill>
              </a:rPr>
            </a:br>
            <a:r>
              <a:rPr lang="en-IN" sz="2000" dirty="0">
                <a:solidFill>
                  <a:srgbClr val="0033CC"/>
                </a:solidFill>
              </a:rPr>
              <a:t>A1Cognito works with routinely available CBC and basic metabolic/clinical parameters, allowing potential discordance to be screened </a:t>
            </a:r>
            <a:r>
              <a:rPr lang="en-IN" sz="2000" b="1" dirty="0">
                <a:solidFill>
                  <a:srgbClr val="0033CC"/>
                </a:solidFill>
              </a:rPr>
              <a:t>without requiring prior CGM data</a:t>
            </a:r>
            <a:r>
              <a:rPr lang="en-IN" sz="2000" dirty="0">
                <a:solidFill>
                  <a:srgbClr val="0033CC"/>
                </a:solidFill>
              </a:rPr>
              <a:t>.</a:t>
            </a:r>
            <a:endParaRPr sz="2000" b="0" dirty="0">
              <a:solidFill>
                <a:srgbClr val="0033CC"/>
              </a:solidFill>
              <a:latin typeface="Trebuchet M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DC31AC-0147-AE39-0589-CCAF292D06A0}"/>
              </a:ext>
            </a:extLst>
          </p:cNvPr>
          <p:cNvSpPr/>
          <p:nvPr/>
        </p:nvSpPr>
        <p:spPr>
          <a:xfrm>
            <a:off x="785325" y="4038600"/>
            <a:ext cx="5158275" cy="2371391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IN" sz="2000" b="1" dirty="0">
                <a:solidFill>
                  <a:srgbClr val="0033CC"/>
                </a:solidFill>
              </a:rPr>
              <a:t>3. Explainable Clinical Reasoning</a:t>
            </a:r>
            <a:br>
              <a:rPr lang="en-IN" sz="2000" dirty="0">
                <a:solidFill>
                  <a:srgbClr val="0033CC"/>
                </a:solidFill>
              </a:rPr>
            </a:br>
            <a:r>
              <a:rPr lang="en-IN" sz="2000" dirty="0">
                <a:solidFill>
                  <a:srgbClr val="0033CC"/>
                </a:solidFill>
              </a:rPr>
              <a:t>Instead of only identifying that HbA1c and glucose may be discordant, A1Cognito uses </a:t>
            </a:r>
            <a:r>
              <a:rPr lang="en-IN" sz="2000" b="1" dirty="0">
                <a:solidFill>
                  <a:srgbClr val="0033CC"/>
                </a:solidFill>
              </a:rPr>
              <a:t>SHAP to identify the features contributing to the prediction</a:t>
            </a:r>
            <a:r>
              <a:rPr lang="en-IN" sz="2000" dirty="0">
                <a:solidFill>
                  <a:srgbClr val="0033CC"/>
                </a:solidFill>
              </a:rPr>
              <a:t>, such as haemoglobin, RDW, or other relevant patient factors.</a:t>
            </a:r>
            <a:endParaRPr sz="2000" b="0" dirty="0">
              <a:solidFill>
                <a:srgbClr val="0033CC"/>
              </a:solidFill>
              <a:latin typeface="Trebuchet M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A9C673-E41B-DC20-CCC8-B825E983E57F}"/>
              </a:ext>
            </a:extLst>
          </p:cNvPr>
          <p:cNvSpPr/>
          <p:nvPr/>
        </p:nvSpPr>
        <p:spPr>
          <a:xfrm>
            <a:off x="6095999" y="4038600"/>
            <a:ext cx="5158275" cy="2417112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IN" sz="2000" b="1" dirty="0">
                <a:solidFill>
                  <a:srgbClr val="0033CC"/>
                </a:solidFill>
              </a:rPr>
              <a:t>4. Proactive Risk Identification</a:t>
            </a:r>
            <a:br>
              <a:rPr lang="en-IN" sz="2000" dirty="0">
                <a:solidFill>
                  <a:srgbClr val="0033CC"/>
                </a:solidFill>
              </a:rPr>
            </a:br>
            <a:r>
              <a:rPr lang="en-IN" sz="2000" dirty="0">
                <a:solidFill>
                  <a:srgbClr val="0033CC"/>
                </a:solidFill>
              </a:rPr>
              <a:t>A1Cognito provides an </a:t>
            </a:r>
            <a:r>
              <a:rPr lang="en-IN" sz="2000" b="1" dirty="0">
                <a:solidFill>
                  <a:srgbClr val="0033CC"/>
                </a:solidFill>
              </a:rPr>
              <a:t>early risk signal when laboratory data become available</a:t>
            </a:r>
            <a:r>
              <a:rPr lang="en-IN" sz="2000" dirty="0">
                <a:solidFill>
                  <a:srgbClr val="0033CC"/>
                </a:solidFill>
              </a:rPr>
              <a:t>,</a:t>
            </a:r>
            <a:r>
              <a:rPr lang="en-US" sz="2000" dirty="0">
                <a:solidFill>
                  <a:srgbClr val="0033CC"/>
                </a:solidFill>
                <a:latin typeface="Trebuchet MS"/>
              </a:rPr>
              <a:t> Warns before therapy is escalated on a possibly misleading HbA1c, reducing over-treatment and </a:t>
            </a:r>
            <a:r>
              <a:rPr lang="en-US" sz="2000" dirty="0" err="1">
                <a:solidFill>
                  <a:srgbClr val="0033CC"/>
                </a:solidFill>
                <a:latin typeface="Trebuchet MS"/>
              </a:rPr>
              <a:t>hypoglycaemia</a:t>
            </a:r>
            <a:r>
              <a:rPr lang="en-US" sz="2000" dirty="0">
                <a:solidFill>
                  <a:srgbClr val="0033CC"/>
                </a:solidFill>
                <a:latin typeface="Trebuchet MS"/>
              </a:rPr>
              <a:t> risk.</a:t>
            </a:r>
            <a:endParaRPr sz="2000" b="0" dirty="0">
              <a:solidFill>
                <a:srgbClr val="0033CC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792491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4">
            <a:extLst>
              <a:ext uri="{FF2B5EF4-FFF2-40B4-BE49-F238E27FC236}">
                <a16:creationId xmlns:a16="http://schemas.microsoft.com/office/drawing/2014/main" id="{77FE0E60-AFEE-24B2-D2DE-5AAA9E004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829" y="858933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CATEGORIES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B32B19-34D4-AAC8-AC44-C495F21B9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6229" y="1302342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ECD00-5EB2-3E74-BDD7-48A7ACE758D6}"/>
              </a:ext>
            </a:extLst>
          </p:cNvPr>
          <p:cNvSpPr txBox="1"/>
          <p:nvPr/>
        </p:nvSpPr>
        <p:spPr>
          <a:xfrm>
            <a:off x="609600" y="1447800"/>
            <a:ext cx="107442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IN" b="1" dirty="0">
                <a:solidFill>
                  <a:srgbClr val="0033CC"/>
                </a:solidFill>
              </a:rPr>
              <a:t>Conditions that prolong RBC lifespan or reduce RBC production → falsely HIGH HbA1c.</a:t>
            </a:r>
          </a:p>
          <a:p>
            <a:pPr algn="just"/>
            <a:r>
              <a:rPr lang="en-IN" dirty="0">
                <a:solidFill>
                  <a:srgbClr val="0033CC"/>
                </a:solidFill>
              </a:rPr>
              <a:t>Iron-deficiency anaemia,  Vitamin B12 deficiency,  Folate deficiency,  Splenectomy (spleen removal — cells live longer without it),  Aplastic anaemia / reduced erythropoiesis states.</a:t>
            </a:r>
          </a:p>
          <a:p>
            <a:pPr algn="just"/>
            <a:endParaRPr lang="en-IN" b="1" dirty="0">
              <a:solidFill>
                <a:srgbClr val="0033CC"/>
              </a:solidFill>
            </a:endParaRPr>
          </a:p>
          <a:p>
            <a:pPr algn="just"/>
            <a:r>
              <a:rPr lang="en-IN" b="1" dirty="0">
                <a:solidFill>
                  <a:srgbClr val="0033CC"/>
                </a:solidFill>
              </a:rPr>
              <a:t>2. Chronic organ disease.</a:t>
            </a:r>
          </a:p>
          <a:p>
            <a:pPr algn="just"/>
            <a:r>
              <a:rPr lang="en-IN" dirty="0">
                <a:solidFill>
                  <a:srgbClr val="0033CC"/>
                </a:solidFill>
              </a:rPr>
              <a:t>Chronic kidney disease, Chronic liver disease, Heart failure.</a:t>
            </a:r>
          </a:p>
          <a:p>
            <a:pPr algn="just"/>
            <a:endParaRPr lang="en-IN" b="1" dirty="0">
              <a:solidFill>
                <a:srgbClr val="0033CC"/>
              </a:solidFill>
            </a:endParaRPr>
          </a:p>
          <a:p>
            <a:pPr algn="just"/>
            <a:r>
              <a:rPr lang="en-IN" b="1" dirty="0">
                <a:solidFill>
                  <a:srgbClr val="0033CC"/>
                </a:solidFill>
              </a:rPr>
              <a:t>3. Nutritional / biochemical status.</a:t>
            </a:r>
          </a:p>
          <a:p>
            <a:pPr lvl="0" algn="just"/>
            <a:r>
              <a:rPr lang="en-IN" dirty="0">
                <a:solidFill>
                  <a:srgbClr val="0033CC"/>
                </a:solidFill>
              </a:rPr>
              <a:t>Hypoalbuminemia / poor protein-nutritional status, Chronic inflammation (elevated CRP),  Alcoholism</a:t>
            </a:r>
          </a:p>
          <a:p>
            <a:pPr algn="just"/>
            <a:r>
              <a:rPr lang="en-IN" dirty="0">
                <a:solidFill>
                  <a:srgbClr val="0033CC"/>
                </a:solidFill>
              </a:rPr>
              <a:t>High-dose vitamin C or vitamin E supplementation.</a:t>
            </a:r>
          </a:p>
          <a:p>
            <a:pPr algn="just"/>
            <a:endParaRPr lang="en-IN" b="1" dirty="0">
              <a:solidFill>
                <a:srgbClr val="0033CC"/>
              </a:solidFill>
            </a:endParaRPr>
          </a:p>
          <a:p>
            <a:pPr algn="just"/>
            <a:r>
              <a:rPr lang="en-IN" b="1" dirty="0">
                <a:solidFill>
                  <a:srgbClr val="0033CC"/>
                </a:solidFill>
              </a:rPr>
              <a:t>4. Physiological / demographic factors (not disease, but shift the baseline relationship).</a:t>
            </a:r>
          </a:p>
          <a:p>
            <a:pPr lvl="0" algn="just"/>
            <a:r>
              <a:rPr lang="en-IN" dirty="0">
                <a:solidFill>
                  <a:srgbClr val="0033CC"/>
                </a:solidFill>
              </a:rPr>
              <a:t>Age (older age is repeatedly one of the strongest independent predictors of HbA1c–glucose mismatch)</a:t>
            </a:r>
          </a:p>
          <a:p>
            <a:pPr lvl="0" algn="just"/>
            <a:r>
              <a:rPr lang="en-IN" dirty="0">
                <a:solidFill>
                  <a:srgbClr val="0033CC"/>
                </a:solidFill>
              </a:rPr>
              <a:t>Pregnancy (altered RBC turnover + plasma volume changes), Obesity / high BMI, Genetic variation in individual glycation rate</a:t>
            </a:r>
          </a:p>
          <a:p>
            <a:pPr algn="just"/>
            <a:endParaRPr lang="en-IN" b="1" dirty="0">
              <a:solidFill>
                <a:srgbClr val="0033CC"/>
              </a:solidFill>
            </a:endParaRPr>
          </a:p>
          <a:p>
            <a:pPr algn="just"/>
            <a:r>
              <a:rPr lang="en-IN" b="1" dirty="0">
                <a:solidFill>
                  <a:srgbClr val="0033CC"/>
                </a:solidFill>
              </a:rPr>
              <a:t>5. Drug-induced</a:t>
            </a:r>
          </a:p>
          <a:p>
            <a:pPr algn="just"/>
            <a:r>
              <a:rPr lang="en-IN" dirty="0">
                <a:solidFill>
                  <a:srgbClr val="0033CC"/>
                </a:solidFill>
              </a:rPr>
              <a:t>Dapsone, ribavirin, and other haemolysis-inducing drugs, Antiretroviral therapy in HIV patients</a:t>
            </a:r>
          </a:p>
          <a:p>
            <a:pPr algn="just"/>
            <a:r>
              <a:rPr lang="en-IN" dirty="0">
                <a:solidFill>
                  <a:srgbClr val="0033CC"/>
                </a:solidFill>
              </a:rPr>
              <a:t>Erythropoietin-stimulating agents</a:t>
            </a:r>
          </a:p>
          <a:p>
            <a:pPr algn="just"/>
            <a:endParaRPr lang="en-IN" b="1" dirty="0">
              <a:solidFill>
                <a:srgbClr val="0033CC"/>
              </a:solidFill>
            </a:endParaRPr>
          </a:p>
          <a:p>
            <a:pPr algn="just"/>
            <a:endParaRPr lang="en-IN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98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4">
            <a:extLst>
              <a:ext uri="{FF2B5EF4-FFF2-40B4-BE49-F238E27FC236}">
                <a16:creationId xmlns:a16="http://schemas.microsoft.com/office/drawing/2014/main" id="{4EBD54FC-4C31-28B4-AD19-1130B6B15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829" y="858933"/>
            <a:ext cx="7772400" cy="856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Datasets</a:t>
            </a:r>
            <a:endParaRPr lang="en-IN" sz="2400" dirty="0">
              <a:solidFill>
                <a:srgbClr val="2A2A2A"/>
              </a:solidFill>
              <a:latin typeface="Calibri"/>
            </a:endParaRPr>
          </a:p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DA154D-EF98-5AEF-37D8-DB7FFF418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6229" y="1302342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117640-EFD7-8902-C869-2EDABFD882AB}"/>
              </a:ext>
            </a:extLst>
          </p:cNvPr>
          <p:cNvSpPr txBox="1"/>
          <p:nvPr/>
        </p:nvSpPr>
        <p:spPr>
          <a:xfrm>
            <a:off x="352180" y="1447800"/>
            <a:ext cx="1168742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IN" sz="2400" dirty="0">
                <a:solidFill>
                  <a:srgbClr val="0033CC"/>
                </a:solidFill>
                <a:latin typeface="Calibri"/>
              </a:rPr>
              <a:t>1) National Health and Nutrition Examination Survey — primary dataset source for CBC, HbA1c, glucose, and demographics.</a:t>
            </a:r>
          </a:p>
          <a:p>
            <a:pPr>
              <a:spcAft>
                <a:spcPts val="900"/>
              </a:spcAft>
            </a:pPr>
            <a:r>
              <a:rPr lang="en-IN" sz="2400" b="1" u="sng" dirty="0">
                <a:solidFill>
                  <a:srgbClr val="0000FF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NHANES</a:t>
            </a:r>
          </a:p>
          <a:p>
            <a:pPr>
              <a:spcAft>
                <a:spcPts val="200"/>
              </a:spcAft>
            </a:pPr>
            <a:r>
              <a:rPr lang="en-IN" sz="2400" dirty="0">
                <a:solidFill>
                  <a:srgbClr val="0033CC"/>
                </a:solidFill>
                <a:latin typeface="Calibri"/>
              </a:rPr>
              <a:t>2) ICU clinical database with CBC and HbA1c for hospitalized patients; used as a validation/robustness-check dataset.</a:t>
            </a:r>
          </a:p>
          <a:p>
            <a:pPr>
              <a:spcAft>
                <a:spcPts val="900"/>
              </a:spcAft>
            </a:pPr>
            <a:r>
              <a:rPr lang="en-IN" sz="2400" b="1" u="sng" dirty="0">
                <a:solidFill>
                  <a:srgbClr val="0000FF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PhysioNet</a:t>
            </a:r>
          </a:p>
          <a:p>
            <a:pPr>
              <a:spcAft>
                <a:spcPts val="200"/>
              </a:spcAft>
            </a:pPr>
            <a:r>
              <a:rPr lang="en-IN" sz="2400" dirty="0">
                <a:solidFill>
                  <a:srgbClr val="0033CC"/>
                </a:solidFill>
                <a:latin typeface="Calibri"/>
              </a:rPr>
              <a:t>3) Large-scale biomedical database with CBC, HbA1c, and genetic data; requires formal application for access.</a:t>
            </a:r>
          </a:p>
          <a:p>
            <a:pPr>
              <a:spcAft>
                <a:spcPts val="900"/>
              </a:spcAft>
            </a:pPr>
            <a:r>
              <a:rPr lang="en-IN" sz="2400" b="1" u="sng" dirty="0">
                <a:solidFill>
                  <a:srgbClr val="0000FF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UK Biobank</a:t>
            </a:r>
          </a:p>
        </p:txBody>
      </p:sp>
    </p:spTree>
    <p:extLst>
      <p:ext uri="{BB962C8B-B14F-4D97-AF65-F5344CB8AC3E}">
        <p14:creationId xmlns:p14="http://schemas.microsoft.com/office/powerpoint/2010/main" val="2177624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162300" y="1212266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295400" y="1747730"/>
            <a:ext cx="8077200" cy="4211931"/>
          </a:xfrm>
          <a:prstGeom prst="rect">
            <a:avLst/>
          </a:prstGeom>
        </p:spPr>
        <p:txBody>
          <a:bodyPr/>
          <a:lstStyle/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IN" sz="2400" dirty="0">
              <a:solidFill>
                <a:srgbClr val="0033CC"/>
              </a:solidFill>
              <a:latin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933700" y="787114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dirty="0">
                <a:solidFill>
                  <a:srgbClr val="FF0000"/>
                </a:solidFill>
                <a:latin typeface="Trebuchet MS" pitchFamily="34" charset="0"/>
              </a:rPr>
              <a:t>Scope and Feasibility study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ECB469-6B19-4CE6-EFA5-CEE2DCCC3829}"/>
              </a:ext>
            </a:extLst>
          </p:cNvPr>
          <p:cNvSpPr txBox="1"/>
          <p:nvPr/>
        </p:nvSpPr>
        <p:spPr>
          <a:xfrm>
            <a:off x="533400" y="1295400"/>
            <a:ext cx="109728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0033CC"/>
                </a:solidFill>
              </a:rPr>
              <a:t>Scope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33CC"/>
                </a:solidFill>
              </a:rPr>
              <a:t>Use routine clinical and haematological parameters to identify factors associated with potential HbA1c–</a:t>
            </a:r>
            <a:r>
              <a:rPr lang="en-IN" sz="1600" dirty="0" err="1">
                <a:solidFill>
                  <a:srgbClr val="0033CC"/>
                </a:solidFill>
              </a:rPr>
              <a:t>glycemic</a:t>
            </a:r>
            <a:r>
              <a:rPr lang="en-IN" sz="1600" dirty="0">
                <a:solidFill>
                  <a:srgbClr val="0033CC"/>
                </a:solidFill>
              </a:rPr>
              <a:t> discordance.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33CC"/>
                </a:solidFill>
              </a:rPr>
              <a:t>Develop an HGI-based discordance labelling framework to classify patients as discordant or non-discordant for model training.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33CC"/>
                </a:solidFill>
              </a:rPr>
              <a:t>Develop an </a:t>
            </a:r>
            <a:r>
              <a:rPr lang="en-IN" sz="1600" dirty="0" err="1">
                <a:solidFill>
                  <a:srgbClr val="0033CC"/>
                </a:solidFill>
              </a:rPr>
              <a:t>XGBoost</a:t>
            </a:r>
            <a:r>
              <a:rPr lang="en-IN" sz="1600" dirty="0">
                <a:solidFill>
                  <a:srgbClr val="0033CC"/>
                </a:solidFill>
              </a:rPr>
              <a:t>-based Discordance Risk Score to estimate the likelihood of potential HbA1c–</a:t>
            </a:r>
            <a:r>
              <a:rPr lang="en-IN" sz="1600" dirty="0" err="1">
                <a:solidFill>
                  <a:srgbClr val="0033CC"/>
                </a:solidFill>
              </a:rPr>
              <a:t>glycemic</a:t>
            </a:r>
            <a:r>
              <a:rPr lang="en-IN" sz="1600" dirty="0">
                <a:solidFill>
                  <a:srgbClr val="0033CC"/>
                </a:solidFill>
              </a:rPr>
              <a:t> discordance.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33CC"/>
                </a:solidFill>
              </a:rPr>
              <a:t>Use SHAP explainability to identify the patient-specific features contributing to the predicted risk.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33CC"/>
                </a:solidFill>
              </a:rPr>
              <a:t>Provide a clinical decision-support system, not a diagnostic or HbA1c-correction system; the final interpretation remains with the clinician.</a:t>
            </a:r>
          </a:p>
          <a:p>
            <a:pPr algn="just"/>
            <a:endParaRPr lang="en-US" dirty="0">
              <a:solidFill>
                <a:srgbClr val="0033CC"/>
              </a:solidFill>
            </a:endParaRPr>
          </a:p>
          <a:p>
            <a:pPr algn="just"/>
            <a:r>
              <a:rPr lang="en-US" b="1" dirty="0">
                <a:solidFill>
                  <a:srgbClr val="0033CC"/>
                </a:solidFill>
              </a:rPr>
              <a:t>Feasibility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33CC"/>
                </a:solidFill>
              </a:rPr>
              <a:t>Market feasibility: a USD 2.41B+ and growing HbA1c testing market, 589M-patient global population, and documented 25–57% anaemia co-prevalence in the target population (India).</a:t>
            </a:r>
            <a:endParaRPr lang="en-US" b="1" dirty="0">
              <a:solidFill>
                <a:srgbClr val="0033C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33CC"/>
                </a:solidFill>
              </a:rPr>
              <a:t>Open source NHANES data → no paid database or delayed ethics approval.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33CC"/>
                </a:solidFill>
              </a:rPr>
              <a:t>8,385 patients × 22 variables already collected and preprocessed.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33CC"/>
                </a:solidFill>
              </a:rPr>
              <a:t>Uses proven approach: </a:t>
            </a:r>
            <a:r>
              <a:rPr lang="en-US" sz="1600" dirty="0" err="1">
                <a:solidFill>
                  <a:srgbClr val="0033CC"/>
                </a:solidFill>
              </a:rPr>
              <a:t>XGBoost</a:t>
            </a:r>
            <a:r>
              <a:rPr lang="en-US" sz="1600" dirty="0">
                <a:solidFill>
                  <a:srgbClr val="0033CC"/>
                </a:solidFill>
              </a:rPr>
              <a:t> + SHAP + HGI-based classification(these ML methods are established).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33CC"/>
                </a:solidFill>
              </a:rPr>
              <a:t>Limitations are clearly scoped and bounded.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33CC"/>
                </a:solidFill>
              </a:rPr>
              <a:t>The project is feasible due to available data, methodology, pipeline and project scope; modelling and validation are the next steps.</a:t>
            </a:r>
            <a:endParaRPr lang="en-IN" sz="16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278934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219200" y="1828800"/>
            <a:ext cx="8077200" cy="4211931"/>
          </a:xfrm>
          <a:prstGeom prst="rect">
            <a:avLst/>
          </a:prstGeom>
        </p:spPr>
        <p:txBody>
          <a:bodyPr/>
          <a:lstStyle/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819400" y="817269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dirty="0">
                <a:solidFill>
                  <a:srgbClr val="FF0000"/>
                </a:solidFill>
                <a:latin typeface="Trebuchet MS" pitchFamily="34" charset="0"/>
              </a:rPr>
              <a:t>Applications/Use cases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E63C55-9AD1-2FD5-C197-3C558EEC8A38}"/>
              </a:ext>
            </a:extLst>
          </p:cNvPr>
          <p:cNvSpPr/>
          <p:nvPr/>
        </p:nvSpPr>
        <p:spPr>
          <a:xfrm>
            <a:off x="8036212" y="3754909"/>
            <a:ext cx="3450000" cy="2000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dirty="0">
                <a:solidFill>
                  <a:srgbClr val="0033CC"/>
                </a:solidFill>
                <a:latin typeface="Trebuchet MS"/>
              </a:rPr>
              <a:t>Research &amp; integration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600" dirty="0">
                <a:solidFill>
                  <a:srgbClr val="0033CC"/>
                </a:solidFill>
                <a:latin typeface="Trebuchet MS"/>
              </a:rPr>
              <a:t>— </a:t>
            </a:r>
            <a:r>
              <a:rPr lang="en-IN" sz="1600" dirty="0">
                <a:solidFill>
                  <a:srgbClr val="0033CC"/>
                </a:solidFill>
              </a:rPr>
              <a:t>Provides a </a:t>
            </a:r>
            <a:r>
              <a:rPr lang="en-IN" sz="1600" b="1" dirty="0">
                <a:solidFill>
                  <a:srgbClr val="0033CC"/>
                </a:solidFill>
              </a:rPr>
              <a:t>reproducible discordance-detection pipeline</a:t>
            </a:r>
            <a:r>
              <a:rPr lang="en-IN" sz="1600" dirty="0">
                <a:solidFill>
                  <a:srgbClr val="0033CC"/>
                </a:solidFill>
              </a:rPr>
              <a:t> and a foundation for future </a:t>
            </a:r>
            <a:r>
              <a:rPr lang="en-IN" sz="1600" b="1" dirty="0">
                <a:solidFill>
                  <a:srgbClr val="0033CC"/>
                </a:solidFill>
              </a:rPr>
              <a:t>EHR/clinical workflow integration</a:t>
            </a:r>
            <a:r>
              <a:rPr lang="en-IN" sz="1600" dirty="0">
                <a:solidFill>
                  <a:srgbClr val="0033CC"/>
                </a:solidFill>
              </a:rPr>
              <a:t>.</a:t>
            </a:r>
            <a:endParaRPr sz="1600" b="0" dirty="0">
              <a:solidFill>
                <a:srgbClr val="0033CC"/>
              </a:solidFill>
              <a:latin typeface="Trebuchet M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A775C0-2F33-587E-FC3B-7C4A0178B7A9}"/>
              </a:ext>
            </a:extLst>
          </p:cNvPr>
          <p:cNvSpPr/>
          <p:nvPr/>
        </p:nvSpPr>
        <p:spPr>
          <a:xfrm>
            <a:off x="785327" y="1469088"/>
            <a:ext cx="3450000" cy="2000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600" b="1" dirty="0">
                <a:solidFill>
                  <a:srgbClr val="0033CC"/>
                </a:solidFill>
                <a:latin typeface="Trebuchet MS"/>
              </a:rPr>
              <a:t>Primary care &amp; diabetes clinics 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600" dirty="0">
                <a:solidFill>
                  <a:srgbClr val="0033CC"/>
                </a:solidFill>
                <a:latin typeface="Trebuchet MS"/>
              </a:rPr>
              <a:t>— flags a discordant HbA1c at the point of routine testing, prompting confirmatory tests before a diagnosis or treatment change is made. (Clinical decision support system).</a:t>
            </a:r>
            <a:endParaRPr sz="1600" b="0" dirty="0">
              <a:solidFill>
                <a:srgbClr val="0033CC"/>
              </a:solidFill>
              <a:latin typeface="Trebuchet M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7F2176-3C47-40A0-D510-6E55C07F1F8C}"/>
              </a:ext>
            </a:extLst>
          </p:cNvPr>
          <p:cNvSpPr/>
          <p:nvPr/>
        </p:nvSpPr>
        <p:spPr>
          <a:xfrm>
            <a:off x="4388221" y="1459757"/>
            <a:ext cx="3450000" cy="2000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600" b="1" dirty="0">
                <a:solidFill>
                  <a:srgbClr val="0033CC"/>
                </a:solidFill>
                <a:latin typeface="Trebuchet MS"/>
              </a:rPr>
              <a:t>Diagnostic laboratories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600" dirty="0">
                <a:solidFill>
                  <a:srgbClr val="0033CC"/>
                </a:solidFill>
                <a:latin typeface="Trebuchet MS"/>
              </a:rPr>
              <a:t> — embeds directly into the lab report workflow, since CBC and HbA1c are already run together 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600" dirty="0">
                <a:solidFill>
                  <a:srgbClr val="0033CC"/>
                </a:solidFill>
                <a:latin typeface="Trebuchet MS"/>
              </a:rPr>
              <a:t>— no extra test or device required.</a:t>
            </a:r>
            <a:endParaRPr lang="en-US" sz="1600" b="0" dirty="0">
              <a:solidFill>
                <a:srgbClr val="0033CC"/>
              </a:solidFill>
              <a:latin typeface="Trebuchet M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7D86E9-6CC0-3B43-1E62-9C44FF32F6DB}"/>
              </a:ext>
            </a:extLst>
          </p:cNvPr>
          <p:cNvSpPr/>
          <p:nvPr/>
        </p:nvSpPr>
        <p:spPr>
          <a:xfrm>
            <a:off x="8002000" y="1475308"/>
            <a:ext cx="3450000" cy="2000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600" b="1" dirty="0">
                <a:solidFill>
                  <a:srgbClr val="0033CC"/>
                </a:solidFill>
                <a:latin typeface="Trebuchet MS"/>
              </a:rPr>
              <a:t>Low-resource &amp; rural clinics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600" dirty="0">
                <a:solidFill>
                  <a:srgbClr val="0033CC"/>
                </a:solidFill>
                <a:latin typeface="Trebuchet MS"/>
              </a:rPr>
              <a:t>— works without a CGM device, critical given low CGM penetration and high </a:t>
            </a:r>
            <a:r>
              <a:rPr lang="en-US" sz="1600" dirty="0" err="1">
                <a:solidFill>
                  <a:srgbClr val="0033CC"/>
                </a:solidFill>
                <a:latin typeface="Trebuchet MS"/>
              </a:rPr>
              <a:t>anaemia</a:t>
            </a:r>
            <a:r>
              <a:rPr lang="en-US" sz="1600" dirty="0">
                <a:solidFill>
                  <a:srgbClr val="0033CC"/>
                </a:solidFill>
                <a:latin typeface="Trebuchet MS"/>
              </a:rPr>
              <a:t> prevalence.</a:t>
            </a:r>
            <a:endParaRPr sz="1600" b="0" dirty="0">
              <a:solidFill>
                <a:srgbClr val="0033CC"/>
              </a:solidFill>
              <a:latin typeface="Trebuchet M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2E85EC-C879-8B2E-8792-C96EA72A5BEE}"/>
              </a:ext>
            </a:extLst>
          </p:cNvPr>
          <p:cNvSpPr/>
          <p:nvPr/>
        </p:nvSpPr>
        <p:spPr>
          <a:xfrm>
            <a:off x="808654" y="3754909"/>
            <a:ext cx="3450000" cy="2000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600" b="1" dirty="0">
                <a:solidFill>
                  <a:srgbClr val="0033CC"/>
                </a:solidFill>
                <a:latin typeface="Trebuchet MS"/>
              </a:rPr>
              <a:t>Public health screening programs </a:t>
            </a:r>
            <a:r>
              <a:rPr lang="en-US" sz="1600" dirty="0">
                <a:solidFill>
                  <a:srgbClr val="0033CC"/>
                </a:solidFill>
                <a:latin typeface="Trebuchet MS"/>
              </a:rPr>
              <a:t>— supports population-level diabetes screening initiatives where </a:t>
            </a:r>
            <a:r>
              <a:rPr lang="en-US" sz="1600" dirty="0" err="1">
                <a:solidFill>
                  <a:srgbClr val="0033CC"/>
                </a:solidFill>
                <a:latin typeface="Trebuchet MS"/>
              </a:rPr>
              <a:t>anaemia</a:t>
            </a:r>
            <a:r>
              <a:rPr lang="en-US" sz="1600" dirty="0">
                <a:solidFill>
                  <a:srgbClr val="0033CC"/>
                </a:solidFill>
                <a:latin typeface="Trebuchet MS"/>
              </a:rPr>
              <a:t>-aware interpretation of HbA1c is currently absent.</a:t>
            </a:r>
            <a:endParaRPr sz="1600" b="0" dirty="0">
              <a:solidFill>
                <a:srgbClr val="0033CC"/>
              </a:solidFill>
              <a:latin typeface="Trebuchet M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9175A9-8CB8-42D3-4336-EB87076600C9}"/>
              </a:ext>
            </a:extLst>
          </p:cNvPr>
          <p:cNvSpPr/>
          <p:nvPr/>
        </p:nvSpPr>
        <p:spPr>
          <a:xfrm>
            <a:off x="4405327" y="3754909"/>
            <a:ext cx="3450000" cy="2000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600" b="1" dirty="0">
                <a:solidFill>
                  <a:srgbClr val="0033CC"/>
                </a:solidFill>
                <a:latin typeface="Trebuchet MS"/>
              </a:rPr>
              <a:t>Telemedicine &amp; remote consultations 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600" dirty="0">
                <a:solidFill>
                  <a:srgbClr val="0033CC"/>
                </a:solidFill>
                <a:latin typeface="Trebuchet MS"/>
              </a:rPr>
              <a:t>— gives a remote physician an explainable second opinion on a lab result, without needing an in-person exam.</a:t>
            </a:r>
            <a:endParaRPr sz="1600" b="0" dirty="0">
              <a:solidFill>
                <a:srgbClr val="0033CC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37606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1905000" y="914400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Expected Deliverables</a:t>
            </a:r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572EF9-8FC2-E873-3668-8064524402C5}"/>
              </a:ext>
            </a:extLst>
          </p:cNvPr>
          <p:cNvSpPr/>
          <p:nvPr/>
        </p:nvSpPr>
        <p:spPr>
          <a:xfrm>
            <a:off x="457200" y="1828800"/>
            <a:ext cx="3505200" cy="4572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1" u="sng" dirty="0">
                <a:solidFill>
                  <a:srgbClr val="0033CC"/>
                </a:solidFill>
                <a:latin typeface="Trebuchet MS"/>
              </a:rPr>
              <a:t>Capstone-I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Literature review, research-gap analysis &amp; 5-category factor taxonomy.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Problem formulation &amp; HbA1c–</a:t>
            </a:r>
            <a:r>
              <a:rPr lang="en-IN" dirty="0" err="1">
                <a:solidFill>
                  <a:srgbClr val="0033CC"/>
                </a:solidFill>
              </a:rPr>
              <a:t>glycemic</a:t>
            </a:r>
            <a:r>
              <a:rPr lang="en-IN" dirty="0">
                <a:solidFill>
                  <a:srgbClr val="0033CC"/>
                </a:solidFill>
              </a:rPr>
              <a:t> discordance definition.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NHANES data acquisition, merging, cleaning &amp; EDA.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Feature engineering &amp; dataset preparation.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Baseline models + initial feasibility results.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29861-BE61-594B-2C7D-D4CA457A65D7}"/>
              </a:ext>
            </a:extLst>
          </p:cNvPr>
          <p:cNvSpPr/>
          <p:nvPr/>
        </p:nvSpPr>
        <p:spPr>
          <a:xfrm>
            <a:off x="4115258" y="1828800"/>
            <a:ext cx="3505200" cy="4572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1" u="sng" dirty="0">
                <a:solidFill>
                  <a:srgbClr val="0033CC"/>
                </a:solidFill>
                <a:latin typeface="Trebuchet MS"/>
              </a:rPr>
              <a:t>Capstone-II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Final ML model development, tuning &amp; probability calibration.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Discordance Risk Score + SHAP-based explanations.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Feature selection &amp; model interpretation.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Clinician-facing dashboard/prototype.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Capstone-II report &amp; evaluation.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BD7967-601F-9417-F9BD-3BC93EEE0E41}"/>
              </a:ext>
            </a:extLst>
          </p:cNvPr>
          <p:cNvSpPr/>
          <p:nvPr/>
        </p:nvSpPr>
        <p:spPr>
          <a:xfrm>
            <a:off x="7773316" y="1828799"/>
            <a:ext cx="3505199" cy="4571999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1" u="sng" dirty="0">
                <a:solidFill>
                  <a:srgbClr val="0033CC"/>
                </a:solidFill>
                <a:latin typeface="Trebuchet MS"/>
              </a:rPr>
              <a:t>Capstone-III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Subgroup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External/additional-dataset validation, where data is accessible.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Robustness &amp; limitation analysis.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End-to-end prototype refinement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EHR integration concept / workflow demonstration.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Research manuscript, final report &amp; project demonstration.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20008" y="1303741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838200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FF0000"/>
                </a:solidFill>
                <a:latin typeface="Trebuchet MS"/>
              </a:rPr>
              <a:t>Capstone (Phase-I &amp; Phase-II) Project Timeline</a:t>
            </a:r>
            <a:endParaRPr lang="en-US" sz="2400" dirty="0">
              <a:solidFill>
                <a:srgbClr val="FF0000"/>
              </a:solidFill>
              <a:latin typeface="Trebuchet M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B71857-5A0A-3904-6ABC-6C70A977A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732083"/>
              </p:ext>
            </p:extLst>
          </p:nvPr>
        </p:nvGraphicFramePr>
        <p:xfrm>
          <a:off x="152400" y="1413280"/>
          <a:ext cx="11963400" cy="5063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90850">
                  <a:extLst>
                    <a:ext uri="{9D8B030D-6E8A-4147-A177-3AD203B41FA5}">
                      <a16:colId xmlns:a16="http://schemas.microsoft.com/office/drawing/2014/main" val="3926613608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3497213767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770403180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4046052049"/>
                    </a:ext>
                  </a:extLst>
                </a:gridCol>
              </a:tblGrid>
              <a:tr h="46468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b="1" dirty="0">
                        <a:solidFill>
                          <a:srgbClr val="0033CC"/>
                        </a:solidFill>
                      </a:endParaRP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0033CC"/>
                          </a:solidFill>
                        </a:rPr>
                        <a:t>PHASE-I</a:t>
                      </a:r>
                      <a:endParaRPr lang="en-IN" sz="1800" b="1" dirty="0">
                        <a:solidFill>
                          <a:srgbClr val="0033CC"/>
                        </a:solidFill>
                      </a:endParaRP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0033CC"/>
                          </a:solidFill>
                        </a:rPr>
                        <a:t>PHASE-II</a:t>
                      </a:r>
                      <a:endParaRPr lang="en-IN" sz="1800" b="1" dirty="0">
                        <a:solidFill>
                          <a:srgbClr val="0033CC"/>
                        </a:solidFill>
                      </a:endParaRP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800" b="1" dirty="0">
                        <a:solidFill>
                          <a:srgbClr val="0033CC"/>
                        </a:solidFill>
                      </a:endParaRP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3693919508"/>
                  </a:ext>
                </a:extLst>
              </a:tr>
              <a:tr h="464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33CC"/>
                          </a:solidFill>
                        </a:rPr>
                        <a:t>Work Package</a:t>
                      </a: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33CC"/>
                          </a:solidFill>
                        </a:rPr>
                        <a:t>FOUNDATION</a:t>
                      </a: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33CC"/>
                          </a:solidFill>
                        </a:rPr>
                        <a:t>MODEL DEVELOPMENT</a:t>
                      </a: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33CC"/>
                          </a:solidFill>
                        </a:rPr>
                        <a:t>VALIDATION &amp; FINALIZATION</a:t>
                      </a: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380968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Literature &amp; gap analysis</a:t>
                      </a: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>
                        <a:solidFill>
                          <a:srgbClr val="0033CC"/>
                        </a:solidFill>
                      </a:endParaRP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79345"/>
                  </a:ext>
                </a:extLst>
              </a:tr>
              <a:tr h="337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Problem + discordance definition</a:t>
                      </a: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636696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Data pipeline</a:t>
                      </a: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988758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Cleaning + EDA + features</a:t>
                      </a: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563451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Baseline + feasibility</a:t>
                      </a: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583265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ML model development</a:t>
                      </a: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877485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rgbClr val="0033CC"/>
                          </a:solidFill>
                        </a:rPr>
                        <a:t>XGBoost + calibration</a:t>
                      </a: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565979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SHAP + feature selection</a:t>
                      </a: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870918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Clinical dashboard</a:t>
                      </a: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195172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Subgroup validation</a:t>
                      </a: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74209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External validation*</a:t>
                      </a: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738019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Robustness + limitations</a:t>
                      </a: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390920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EHR workflow concept</a:t>
                      </a: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709314"/>
                  </a:ext>
                </a:extLst>
              </a:tr>
              <a:tr h="296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Final report + manuscript + demo</a:t>
                      </a:r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818955"/>
                  </a:ext>
                </a:extLst>
              </a:tr>
            </a:tbl>
          </a:graphicData>
        </a:graphic>
      </p:graphicFrame>
      <p:sp>
        <p:nvSpPr>
          <p:cNvPr id="8" name="Timeline bar">
            <a:extLst>
              <a:ext uri="{FF2B5EF4-FFF2-40B4-BE49-F238E27FC236}">
                <a16:creationId xmlns:a16="http://schemas.microsoft.com/office/drawing/2014/main" id="{8D8D5A4B-1805-0C77-4E83-F9E7BD9ACCF7}"/>
              </a:ext>
            </a:extLst>
          </p:cNvPr>
          <p:cNvSpPr/>
          <p:nvPr/>
        </p:nvSpPr>
        <p:spPr>
          <a:xfrm>
            <a:off x="3291280" y="2438400"/>
            <a:ext cx="2667000" cy="152400"/>
          </a:xfrm>
          <a:prstGeom prst="rect">
            <a:avLst/>
          </a:prstGeom>
          <a:solidFill>
            <a:srgbClr val="33CCCC"/>
          </a:solidFill>
          <a:ln w="12700">
            <a:solidFill>
              <a:srgbClr val="33CCCC"/>
            </a:solidFill>
            <a:prstDash val="solid"/>
          </a:ln>
        </p:spPr>
      </p:sp>
      <p:sp>
        <p:nvSpPr>
          <p:cNvPr id="14" name="Timeline bar">
            <a:extLst>
              <a:ext uri="{FF2B5EF4-FFF2-40B4-BE49-F238E27FC236}">
                <a16:creationId xmlns:a16="http://schemas.microsoft.com/office/drawing/2014/main" id="{81BE0798-EDD2-5049-9B34-7275C6968433}"/>
              </a:ext>
            </a:extLst>
          </p:cNvPr>
          <p:cNvSpPr/>
          <p:nvPr/>
        </p:nvSpPr>
        <p:spPr>
          <a:xfrm>
            <a:off x="3291280" y="2704215"/>
            <a:ext cx="2667000" cy="152400"/>
          </a:xfrm>
          <a:prstGeom prst="rect">
            <a:avLst/>
          </a:prstGeom>
          <a:solidFill>
            <a:srgbClr val="33CCCC"/>
          </a:solidFill>
          <a:ln w="12700">
            <a:solidFill>
              <a:srgbClr val="33CCCC"/>
            </a:solidFill>
            <a:prstDash val="solid"/>
          </a:ln>
        </p:spPr>
      </p:sp>
      <p:sp>
        <p:nvSpPr>
          <p:cNvPr id="16" name="Timeline bar">
            <a:extLst>
              <a:ext uri="{FF2B5EF4-FFF2-40B4-BE49-F238E27FC236}">
                <a16:creationId xmlns:a16="http://schemas.microsoft.com/office/drawing/2014/main" id="{AC5A1A94-DE6D-FBF6-6792-BA25D11C9F9F}"/>
              </a:ext>
            </a:extLst>
          </p:cNvPr>
          <p:cNvSpPr/>
          <p:nvPr/>
        </p:nvSpPr>
        <p:spPr>
          <a:xfrm>
            <a:off x="3287785" y="3041541"/>
            <a:ext cx="2667000" cy="152400"/>
          </a:xfrm>
          <a:prstGeom prst="rect">
            <a:avLst/>
          </a:prstGeom>
          <a:solidFill>
            <a:srgbClr val="33CCCC"/>
          </a:solidFill>
          <a:ln w="12700">
            <a:solidFill>
              <a:srgbClr val="33CCCC"/>
            </a:solidFill>
            <a:prstDash val="solid"/>
          </a:ln>
        </p:spPr>
      </p:sp>
      <p:sp>
        <p:nvSpPr>
          <p:cNvPr id="18" name="Timeline bar">
            <a:extLst>
              <a:ext uri="{FF2B5EF4-FFF2-40B4-BE49-F238E27FC236}">
                <a16:creationId xmlns:a16="http://schemas.microsoft.com/office/drawing/2014/main" id="{1106CE59-E1CD-6F0D-A9F2-A315CCB3BC9F}"/>
              </a:ext>
            </a:extLst>
          </p:cNvPr>
          <p:cNvSpPr/>
          <p:nvPr/>
        </p:nvSpPr>
        <p:spPr>
          <a:xfrm>
            <a:off x="3287785" y="3352800"/>
            <a:ext cx="2667000" cy="152400"/>
          </a:xfrm>
          <a:prstGeom prst="rect">
            <a:avLst/>
          </a:prstGeom>
          <a:solidFill>
            <a:srgbClr val="33CCCC"/>
          </a:solidFill>
          <a:ln w="12700">
            <a:solidFill>
              <a:srgbClr val="33CCCC"/>
            </a:solidFill>
            <a:prstDash val="solid"/>
          </a:ln>
        </p:spPr>
      </p:sp>
      <p:sp>
        <p:nvSpPr>
          <p:cNvPr id="20" name="Timeline bar">
            <a:extLst>
              <a:ext uri="{FF2B5EF4-FFF2-40B4-BE49-F238E27FC236}">
                <a16:creationId xmlns:a16="http://schemas.microsoft.com/office/drawing/2014/main" id="{BB46B3EB-E324-5EA1-1051-7FC1AB979D96}"/>
              </a:ext>
            </a:extLst>
          </p:cNvPr>
          <p:cNvSpPr/>
          <p:nvPr/>
        </p:nvSpPr>
        <p:spPr>
          <a:xfrm>
            <a:off x="3287785" y="3622212"/>
            <a:ext cx="2667000" cy="152400"/>
          </a:xfrm>
          <a:prstGeom prst="rect">
            <a:avLst/>
          </a:prstGeom>
          <a:solidFill>
            <a:srgbClr val="33CCCC"/>
          </a:solidFill>
          <a:ln w="12700">
            <a:solidFill>
              <a:srgbClr val="33CCCC"/>
            </a:solidFill>
            <a:prstDash val="solid"/>
          </a:ln>
        </p:spPr>
      </p:sp>
      <p:sp>
        <p:nvSpPr>
          <p:cNvPr id="22" name="Timeline bar">
            <a:extLst>
              <a:ext uri="{FF2B5EF4-FFF2-40B4-BE49-F238E27FC236}">
                <a16:creationId xmlns:a16="http://schemas.microsoft.com/office/drawing/2014/main" id="{C06903C4-B498-A77E-1F8D-7F30E6C2ED75}"/>
              </a:ext>
            </a:extLst>
          </p:cNvPr>
          <p:cNvSpPr/>
          <p:nvPr/>
        </p:nvSpPr>
        <p:spPr>
          <a:xfrm>
            <a:off x="6289995" y="3921447"/>
            <a:ext cx="2667000" cy="152400"/>
          </a:xfrm>
          <a:prstGeom prst="rect">
            <a:avLst/>
          </a:prstGeom>
          <a:solidFill>
            <a:srgbClr val="0033CC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24" name="Timeline bar">
            <a:extLst>
              <a:ext uri="{FF2B5EF4-FFF2-40B4-BE49-F238E27FC236}">
                <a16:creationId xmlns:a16="http://schemas.microsoft.com/office/drawing/2014/main" id="{7D6BEFE4-BE10-57E0-1E8C-7DF287610216}"/>
              </a:ext>
            </a:extLst>
          </p:cNvPr>
          <p:cNvSpPr/>
          <p:nvPr/>
        </p:nvSpPr>
        <p:spPr>
          <a:xfrm>
            <a:off x="6289995" y="4206754"/>
            <a:ext cx="2667000" cy="152400"/>
          </a:xfrm>
          <a:prstGeom prst="rect">
            <a:avLst/>
          </a:prstGeom>
          <a:solidFill>
            <a:srgbClr val="0033CC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26" name="Timeline bar">
            <a:extLst>
              <a:ext uri="{FF2B5EF4-FFF2-40B4-BE49-F238E27FC236}">
                <a16:creationId xmlns:a16="http://schemas.microsoft.com/office/drawing/2014/main" id="{3B15C1D3-EC1A-4EDC-1A2A-99F82A3EE659}"/>
              </a:ext>
            </a:extLst>
          </p:cNvPr>
          <p:cNvSpPr/>
          <p:nvPr/>
        </p:nvSpPr>
        <p:spPr>
          <a:xfrm>
            <a:off x="6289995" y="4532071"/>
            <a:ext cx="2667000" cy="152400"/>
          </a:xfrm>
          <a:prstGeom prst="rect">
            <a:avLst/>
          </a:prstGeom>
          <a:solidFill>
            <a:srgbClr val="0033CC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28" name="Timeline bar">
            <a:extLst>
              <a:ext uri="{FF2B5EF4-FFF2-40B4-BE49-F238E27FC236}">
                <a16:creationId xmlns:a16="http://schemas.microsoft.com/office/drawing/2014/main" id="{A2718F3E-4A05-9E69-DE68-223CAA78F1C3}"/>
              </a:ext>
            </a:extLst>
          </p:cNvPr>
          <p:cNvSpPr/>
          <p:nvPr/>
        </p:nvSpPr>
        <p:spPr>
          <a:xfrm>
            <a:off x="6289995" y="4797886"/>
            <a:ext cx="2667000" cy="152400"/>
          </a:xfrm>
          <a:prstGeom prst="rect">
            <a:avLst/>
          </a:prstGeom>
          <a:solidFill>
            <a:srgbClr val="0033CC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30" name="Timeline bar">
            <a:extLst>
              <a:ext uri="{FF2B5EF4-FFF2-40B4-BE49-F238E27FC236}">
                <a16:creationId xmlns:a16="http://schemas.microsoft.com/office/drawing/2014/main" id="{516DC600-78A7-80A7-C05C-2C2CD3BDBF1D}"/>
              </a:ext>
            </a:extLst>
          </p:cNvPr>
          <p:cNvSpPr/>
          <p:nvPr/>
        </p:nvSpPr>
        <p:spPr>
          <a:xfrm>
            <a:off x="9293925" y="5083213"/>
            <a:ext cx="2667000" cy="152400"/>
          </a:xfrm>
          <a:prstGeom prst="rect">
            <a:avLst/>
          </a:prstGeom>
          <a:solidFill>
            <a:srgbClr val="0033CC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32" name="Timeline bar">
            <a:extLst>
              <a:ext uri="{FF2B5EF4-FFF2-40B4-BE49-F238E27FC236}">
                <a16:creationId xmlns:a16="http://schemas.microsoft.com/office/drawing/2014/main" id="{D146B3CE-1C58-F3FE-192E-6A073A1BB9B6}"/>
              </a:ext>
            </a:extLst>
          </p:cNvPr>
          <p:cNvSpPr/>
          <p:nvPr/>
        </p:nvSpPr>
        <p:spPr>
          <a:xfrm>
            <a:off x="9293925" y="5368520"/>
            <a:ext cx="2667000" cy="152400"/>
          </a:xfrm>
          <a:prstGeom prst="rect">
            <a:avLst/>
          </a:prstGeom>
          <a:solidFill>
            <a:srgbClr val="0033CC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34" name="Timeline bar">
            <a:extLst>
              <a:ext uri="{FF2B5EF4-FFF2-40B4-BE49-F238E27FC236}">
                <a16:creationId xmlns:a16="http://schemas.microsoft.com/office/drawing/2014/main" id="{B30C2503-19F5-CB38-4461-EFA9EC249933}"/>
              </a:ext>
            </a:extLst>
          </p:cNvPr>
          <p:cNvSpPr/>
          <p:nvPr/>
        </p:nvSpPr>
        <p:spPr>
          <a:xfrm>
            <a:off x="9290430" y="5653827"/>
            <a:ext cx="2667000" cy="152400"/>
          </a:xfrm>
          <a:prstGeom prst="rect">
            <a:avLst/>
          </a:prstGeom>
          <a:solidFill>
            <a:srgbClr val="0033CC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36" name="Timeline bar">
            <a:extLst>
              <a:ext uri="{FF2B5EF4-FFF2-40B4-BE49-F238E27FC236}">
                <a16:creationId xmlns:a16="http://schemas.microsoft.com/office/drawing/2014/main" id="{9E0E391C-58BA-5A36-C0B9-3478D9FD918E}"/>
              </a:ext>
            </a:extLst>
          </p:cNvPr>
          <p:cNvSpPr/>
          <p:nvPr/>
        </p:nvSpPr>
        <p:spPr>
          <a:xfrm>
            <a:off x="9288333" y="5930443"/>
            <a:ext cx="2667000" cy="152400"/>
          </a:xfrm>
          <a:prstGeom prst="rect">
            <a:avLst/>
          </a:prstGeom>
          <a:solidFill>
            <a:srgbClr val="0033CC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38" name="Timeline bar">
            <a:extLst>
              <a:ext uri="{FF2B5EF4-FFF2-40B4-BE49-F238E27FC236}">
                <a16:creationId xmlns:a16="http://schemas.microsoft.com/office/drawing/2014/main" id="{5131AFFC-2956-9955-80DB-7807F7334B68}"/>
              </a:ext>
            </a:extLst>
          </p:cNvPr>
          <p:cNvSpPr/>
          <p:nvPr/>
        </p:nvSpPr>
        <p:spPr>
          <a:xfrm>
            <a:off x="9288333" y="6224441"/>
            <a:ext cx="2667000" cy="152400"/>
          </a:xfrm>
          <a:prstGeom prst="rect">
            <a:avLst/>
          </a:prstGeom>
          <a:solidFill>
            <a:srgbClr val="0033CC"/>
          </a:solidFill>
          <a:ln w="12700">
            <a:solidFill>
              <a:srgbClr val="0033CC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4">
            <a:extLst>
              <a:ext uri="{FF2B5EF4-FFF2-40B4-BE49-F238E27FC236}">
                <a16:creationId xmlns:a16="http://schemas.microsoft.com/office/drawing/2014/main" id="{27938F8A-1C2A-11A5-1272-61971CC05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829" y="80872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References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828854-A5F9-029C-8761-ED49F5BA7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6229" y="1249851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30261B-F388-CDD9-BB85-348AEA8FE9A9}"/>
              </a:ext>
            </a:extLst>
          </p:cNvPr>
          <p:cNvSpPr txBox="1"/>
          <p:nvPr/>
        </p:nvSpPr>
        <p:spPr>
          <a:xfrm>
            <a:off x="252290" y="1338855"/>
            <a:ext cx="11687420" cy="5147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1)</a:t>
            </a:r>
            <a:r>
              <a:rPr lang="en-IN" sz="1600" dirty="0"/>
              <a:t> Cichosz SL, Thomsen CHN, </a:t>
            </a:r>
            <a:r>
              <a:rPr lang="en-IN" sz="1600" dirty="0" err="1"/>
              <a:t>Klonoff</a:t>
            </a:r>
            <a:r>
              <a:rPr lang="en-IN" sz="1600" dirty="0"/>
              <a:t> DC, Hirsch IB, Jensen MH. Narrowing the A1c gap: Personalized </a:t>
            </a:r>
            <a:r>
              <a:rPr lang="en-IN" sz="1600" dirty="0" err="1"/>
              <a:t>modeling</a:t>
            </a:r>
            <a:r>
              <a:rPr lang="en-IN" sz="1600" dirty="0"/>
              <a:t> of HbA1c–continuous glucose monitor discordance in type 1 diabetes. </a:t>
            </a:r>
            <a:r>
              <a:rPr lang="en-IN" sz="1600" i="1" dirty="0"/>
              <a:t>PLOS Digit Health.</a:t>
            </a:r>
            <a:r>
              <a:rPr lang="en-IN" sz="1600" dirty="0"/>
              <a:t> (2026) 5:e0001229.</a:t>
            </a:r>
            <a:br>
              <a:rPr lang="en-IN" sz="1600" dirty="0"/>
            </a:br>
            <a:r>
              <a:rPr lang="en-IN" sz="1600" b="1" dirty="0"/>
              <a:t>[</a:t>
            </a:r>
            <a:r>
              <a:rPr lang="en-IN" sz="1600" b="1" dirty="0">
                <a:hlinkClick r:id="rId2"/>
              </a:rPr>
              <a:t>DOI</a:t>
            </a:r>
            <a:r>
              <a:rPr lang="en-IN" sz="1600" b="1" dirty="0"/>
              <a:t>] [</a:t>
            </a:r>
            <a:r>
              <a:rPr lang="en-IN" sz="1600" b="1" dirty="0">
                <a:hlinkClick r:id="rId3"/>
              </a:rPr>
              <a:t>PLOS Digital Health</a:t>
            </a:r>
            <a:r>
              <a:rPr lang="en-IN" sz="1600" b="1" dirty="0"/>
              <a:t>] [Google Scholar]</a:t>
            </a:r>
            <a:endParaRPr lang="en-IN" sz="1600" dirty="0"/>
          </a:p>
          <a:p>
            <a:endParaRPr lang="en-IN" sz="1600" b="1" dirty="0"/>
          </a:p>
          <a:p>
            <a:r>
              <a:rPr lang="en-IN" sz="1600" b="1" dirty="0"/>
              <a:t>2)</a:t>
            </a:r>
            <a:r>
              <a:rPr lang="en-IN" sz="1600" dirty="0"/>
              <a:t> Lenters-Westra E, Fokkert M, Kilpatrick ES, Schleicher E, Pilla S, English E, van Dijk P. Managing discordance between HbA1c and glucose management indicator. </a:t>
            </a:r>
            <a:r>
              <a:rPr lang="en-IN" sz="1600" i="1" dirty="0" err="1"/>
              <a:t>Diabet</a:t>
            </a:r>
            <a:r>
              <a:rPr lang="en-IN" sz="1600" i="1" dirty="0"/>
              <a:t> Med.</a:t>
            </a:r>
            <a:r>
              <a:rPr lang="en-IN" sz="1600" dirty="0"/>
              <a:t> (2025) 42(6):e70023.</a:t>
            </a:r>
            <a:br>
              <a:rPr lang="en-IN" sz="1600" dirty="0"/>
            </a:br>
            <a:r>
              <a:rPr lang="en-IN" sz="1600" b="1" dirty="0"/>
              <a:t>[</a:t>
            </a:r>
            <a:r>
              <a:rPr lang="en-IN" sz="1600" b="1" dirty="0">
                <a:hlinkClick r:id="rId4"/>
              </a:rPr>
              <a:t>DOI</a:t>
            </a:r>
            <a:r>
              <a:rPr lang="en-IN" sz="1600" b="1" dirty="0"/>
              <a:t>] [</a:t>
            </a:r>
            <a:r>
              <a:rPr lang="en-IN" sz="1600" b="1" dirty="0">
                <a:hlinkClick r:id="rId5"/>
              </a:rPr>
              <a:t>WILEY</a:t>
            </a:r>
            <a:r>
              <a:rPr lang="en-IN" sz="1600" b="1" dirty="0"/>
              <a:t>] [Google Scholar]</a:t>
            </a:r>
            <a:endParaRPr lang="en-IN" sz="1600" dirty="0"/>
          </a:p>
          <a:p>
            <a:endParaRPr lang="en-IN" sz="1600" b="1" dirty="0"/>
          </a:p>
          <a:p>
            <a:r>
              <a:rPr lang="en-IN" sz="1600" b="1" dirty="0"/>
              <a:t>3)</a:t>
            </a:r>
            <a:r>
              <a:rPr lang="en-IN" sz="1600" dirty="0"/>
              <a:t> Wu T, Guan Z, Cai W. </a:t>
            </a:r>
            <a:r>
              <a:rPr lang="en-IN" sz="1600" dirty="0" err="1"/>
              <a:t>Glycemic</a:t>
            </a:r>
            <a:r>
              <a:rPr lang="en-IN" sz="1600" dirty="0"/>
              <a:t> assessment when </a:t>
            </a:r>
            <a:r>
              <a:rPr lang="en-IN" sz="1600" dirty="0" err="1"/>
              <a:t>hemoglobin</a:t>
            </a:r>
            <a:r>
              <a:rPr lang="en-IN" sz="1600" dirty="0"/>
              <a:t> A1c is unreliable: a clinical-laboratory framework for kidney disease, </a:t>
            </a:r>
            <a:r>
              <a:rPr lang="en-IN" sz="1600" dirty="0" err="1"/>
              <a:t>anemia</a:t>
            </a:r>
            <a:r>
              <a:rPr lang="en-IN" sz="1600" dirty="0"/>
              <a:t>, and hemoglobinopathies. </a:t>
            </a:r>
            <a:r>
              <a:rPr lang="en-IN" sz="1600" i="1" dirty="0"/>
              <a:t>Front Endocrinol.</a:t>
            </a:r>
            <a:r>
              <a:rPr lang="en-IN" sz="1600" dirty="0"/>
              <a:t> (2026) 17:1898713.</a:t>
            </a:r>
            <a:br>
              <a:rPr lang="en-IN" sz="1600" dirty="0"/>
            </a:br>
            <a:r>
              <a:rPr lang="en-IN" sz="1600" b="1" dirty="0"/>
              <a:t>[</a:t>
            </a:r>
            <a:r>
              <a:rPr lang="en-IN" sz="1600" b="1" dirty="0">
                <a:hlinkClick r:id="rId6"/>
              </a:rPr>
              <a:t>DOI</a:t>
            </a:r>
            <a:r>
              <a:rPr lang="en-IN" sz="1600" b="1" dirty="0"/>
              <a:t>][</a:t>
            </a:r>
            <a:r>
              <a:rPr lang="en-IN" sz="1600" b="1" dirty="0">
                <a:hlinkClick r:id="rId7"/>
              </a:rPr>
              <a:t>Frontiers in Endocrinology</a:t>
            </a:r>
            <a:r>
              <a:rPr lang="en-IN" sz="1600" b="1" dirty="0"/>
              <a:t>] [Google Scholar]</a:t>
            </a:r>
            <a:endParaRPr lang="en-IN" sz="1600" dirty="0"/>
          </a:p>
          <a:p>
            <a:endParaRPr lang="en-IN" sz="1600" b="1" dirty="0"/>
          </a:p>
          <a:p>
            <a:r>
              <a:rPr lang="en-IN" sz="1600" b="1" dirty="0"/>
              <a:t>4)</a:t>
            </a:r>
            <a:r>
              <a:rPr lang="en-IN" sz="1600" dirty="0"/>
              <a:t> Hao H, Chen Y, Ji X, Zhang S, Chu H, Sun X, Wang Q, Xing M, Feng J, Ge H. The Association Between METS-IR and Serum Ferritin Level in United States Female: A Cross-Sectional Study Based on NHANES. </a:t>
            </a:r>
            <a:r>
              <a:rPr lang="en-IN" sz="1600" i="1" dirty="0"/>
              <a:t>Front Med.</a:t>
            </a:r>
            <a:r>
              <a:rPr lang="en-IN" sz="1600" dirty="0"/>
              <a:t> (2022) 9:925344.</a:t>
            </a:r>
            <a:br>
              <a:rPr lang="en-IN" sz="1600" dirty="0"/>
            </a:br>
            <a:r>
              <a:rPr lang="en-IN" sz="1600" b="1" dirty="0"/>
              <a:t>[</a:t>
            </a:r>
            <a:r>
              <a:rPr lang="en-IN" sz="1600" b="1" dirty="0">
                <a:hlinkClick r:id="rId8"/>
              </a:rPr>
              <a:t>DOI</a:t>
            </a:r>
            <a:r>
              <a:rPr lang="en-IN" sz="1600" b="1" dirty="0"/>
              <a:t>] [</a:t>
            </a:r>
            <a:r>
              <a:rPr lang="en-IN" sz="1600" b="1" dirty="0">
                <a:hlinkClick r:id="rId9"/>
              </a:rPr>
              <a:t>PubMed Central</a:t>
            </a:r>
            <a:r>
              <a:rPr lang="en-IN" sz="1600" b="1" dirty="0"/>
              <a:t>]</a:t>
            </a:r>
            <a:endParaRPr lang="en-IN" sz="1600" dirty="0"/>
          </a:p>
          <a:p>
            <a:endParaRPr lang="en-IN" sz="1600" b="1" dirty="0"/>
          </a:p>
          <a:p>
            <a:r>
              <a:rPr lang="en-IN" sz="1600" b="1" dirty="0"/>
              <a:t>5)</a:t>
            </a:r>
            <a:r>
              <a:rPr lang="en-IN" sz="1600" dirty="0"/>
              <a:t> Alzahrani BA, </a:t>
            </a:r>
            <a:r>
              <a:rPr lang="en-IN" sz="1600" dirty="0" err="1"/>
              <a:t>Salamatullah</a:t>
            </a:r>
            <a:r>
              <a:rPr lang="en-IN" sz="1600" dirty="0"/>
              <a:t> HK, </a:t>
            </a:r>
            <a:r>
              <a:rPr lang="en-IN" sz="1600" dirty="0" err="1"/>
              <a:t>Alsharm</a:t>
            </a:r>
            <a:r>
              <a:rPr lang="en-IN" sz="1600" dirty="0"/>
              <a:t> FS, </a:t>
            </a:r>
            <a:r>
              <a:rPr lang="en-IN" sz="1600" dirty="0" err="1"/>
              <a:t>Baljoon</a:t>
            </a:r>
            <a:r>
              <a:rPr lang="en-IN" sz="1600" dirty="0"/>
              <a:t> JM, </a:t>
            </a:r>
            <a:r>
              <a:rPr lang="en-IN" sz="1600" dirty="0" err="1"/>
              <a:t>Abukhodair</a:t>
            </a:r>
            <a:r>
              <a:rPr lang="en-IN" sz="1600" dirty="0"/>
              <a:t> AO, Ahmed ME, Malaikah H, Radi S. The effect of different types of </a:t>
            </a:r>
            <a:r>
              <a:rPr lang="en-IN" sz="1600" dirty="0" err="1"/>
              <a:t>anemia</a:t>
            </a:r>
            <a:r>
              <a:rPr lang="en-IN" sz="1600" dirty="0"/>
              <a:t> on HbA1c levels in non-diabetics. </a:t>
            </a:r>
            <a:r>
              <a:rPr lang="en-IN" sz="1600" i="1" dirty="0"/>
              <a:t>BMC </a:t>
            </a:r>
            <a:r>
              <a:rPr lang="en-IN" sz="1600" i="1" dirty="0" err="1"/>
              <a:t>Endocr</a:t>
            </a:r>
            <a:r>
              <a:rPr lang="en-IN" sz="1600" i="1" dirty="0"/>
              <a:t> </a:t>
            </a:r>
            <a:r>
              <a:rPr lang="en-IN" sz="1600" i="1" dirty="0" err="1"/>
              <a:t>Disord</a:t>
            </a:r>
            <a:r>
              <a:rPr lang="en-IN" sz="1600" i="1" dirty="0"/>
              <a:t>.</a:t>
            </a:r>
            <a:r>
              <a:rPr lang="en-IN" sz="1600" dirty="0"/>
              <a:t> (2023) 23:24.</a:t>
            </a:r>
            <a:br>
              <a:rPr lang="en-IN" sz="1600" dirty="0"/>
            </a:br>
            <a:r>
              <a:rPr lang="en-IN" sz="1600" b="1" dirty="0"/>
              <a:t>[</a:t>
            </a:r>
            <a:r>
              <a:rPr lang="en-IN" sz="1600" b="1" dirty="0">
                <a:hlinkClick r:id="rId10"/>
              </a:rPr>
              <a:t>DOI</a:t>
            </a:r>
            <a:r>
              <a:rPr lang="en-IN" sz="1600" b="1" dirty="0"/>
              <a:t>] [</a:t>
            </a:r>
            <a:r>
              <a:rPr lang="en-IN" sz="1600" b="1" dirty="0">
                <a:hlinkClick r:id="rId11"/>
              </a:rPr>
              <a:t>Springer</a:t>
            </a:r>
            <a:r>
              <a:rPr lang="en-IN" sz="1600" b="1" dirty="0"/>
              <a:t>]</a:t>
            </a:r>
            <a:endParaRPr lang="en-IN" sz="1600" dirty="0"/>
          </a:p>
          <a:p>
            <a:pPr>
              <a:spcAft>
                <a:spcPts val="900"/>
              </a:spcAft>
            </a:pPr>
            <a:endParaRPr lang="en-IN" sz="1650" b="1" u="sng" dirty="0">
              <a:solidFill>
                <a:srgbClr val="0033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1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967456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  <a:latin typeface="Trebuchet MS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1886</TotalTime>
  <Words>1881</Words>
  <Application>Microsoft Office PowerPoint</Application>
  <PresentationFormat>Widescreen</PresentationFormat>
  <Paragraphs>194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Trebuchet MS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KTwo Technology Solutions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SHREYASH M YADWAD</dc:creator>
  <cp:lastModifiedBy>EC S&amp;H 2N 2024 SHIVANAGOUDA I PATIL</cp:lastModifiedBy>
  <cp:revision>157</cp:revision>
  <dcterms:created xsi:type="dcterms:W3CDTF">2020-11-22T08:14:37Z</dcterms:created>
  <dcterms:modified xsi:type="dcterms:W3CDTF">2026-10-12T06:56:36Z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